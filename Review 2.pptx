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6" r:id="rId12"/>
    <p:sldId id="267" r:id="rId13"/>
    <p:sldId id="268" r:id="rId14"/>
    <p:sldId id="269" r:id="rId15"/>
    <p:sldId id="270" r:id="rId16"/>
    <p:sldId id="271" r:id="rId17"/>
    <p:sldId id="277" r:id="rId18"/>
    <p:sldId id="278" r:id="rId20"/>
    <p:sldId id="272" r:id="rId21"/>
    <p:sldId id="275" r:id="rId22"/>
    <p:sldId id="276" r:id="rId23"/>
    <p:sldId id="273" r:id="rId24"/>
    <p:sldId id="274" r:id="rId25"/>
    <p:sldId id="279"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F00"/>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5" d="100"/>
          <a:sy n="75" d="100"/>
        </p:scale>
        <p:origin x="90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A8F570-A700-4C67-AD1C-365190262449}" type="datetimeFigureOut">
              <a:rPr lang="en-IN" smtClean="0"/>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AC97F53-368B-4AE5-B205-5B24ED5B575A}" type="slidenum">
              <a:rPr lang="en-IN" smtClean="0"/>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AC97F53-368B-4AE5-B205-5B24ED5B575A}" type="slidenum">
              <a:rPr lang="en-IN" smtClean="0"/>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892A6C8-113E-4533-A3C8-4E54D93A6B7D}"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A3DF2E6E-045A-4B9D-A644-58D80B770A49}"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71F1A1D-09DC-4D78-8276-327E480C4781}"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DED34DAB-36E5-459E-AC2D-5087DD652F9B}"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A79AA9F9-F68D-4042-82AD-70E522C05F73}" type="datetime1">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18011348-442B-4B15-89C1-913A1EB9DD7B}" type="datetime1">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D27F3F-9F82-40D3-A435-EF555440A581}" type="datetime1">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D13AE92-E8A5-41AB-926B-12E977C9533D}"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3764ED8A-24B4-4F13-8B71-94ABC9071101}" type="datetime1">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B843E8A8-B275-4383-8F9F-96357138323F}"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8FF3C78D-442D-4BE3-8212-A36006A894E3}" type="datetime1">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EF149B-9BA1-4FAC-9794-07921E8F006B}" type="datetime1">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B1413A-8296-4DAD-99D1-781DA3BE2BEF}"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hyperlink" Target="https://scrs.in/" TargetMode="External"/><Relationship Id="rId1" Type="http://schemas.openxmlformats.org/officeDocument/2006/relationships/hyperlink" Target="http://rvim.edu.i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4620" y="549435"/>
            <a:ext cx="12192000" cy="2438080"/>
          </a:xfrm>
        </p:spPr>
        <p:txBody>
          <a:bodyPr>
            <a:normAutofit/>
          </a:bodyPr>
          <a:lstStyle/>
          <a:p>
            <a:r>
              <a:rPr lang="en-US" sz="3600" b="1" dirty="0">
                <a:solidFill>
                  <a:srgbClr val="FF0000"/>
                </a:solidFill>
                <a:latin typeface="Times New Roman" panose="02020603050405020304" pitchFamily="18" charset="0"/>
                <a:cs typeface="Times New Roman" panose="02020603050405020304" pitchFamily="18" charset="0"/>
              </a:rPr>
              <a:t>3</a:t>
            </a:r>
            <a:r>
              <a:rPr lang="en-US" sz="3600" b="1" baseline="30000" dirty="0">
                <a:solidFill>
                  <a:srgbClr val="FF0000"/>
                </a:solidFill>
                <a:latin typeface="Times New Roman" panose="02020603050405020304" pitchFamily="18" charset="0"/>
                <a:cs typeface="Times New Roman" panose="02020603050405020304" pitchFamily="18" charset="0"/>
              </a:rPr>
              <a:t>rd</a:t>
            </a:r>
            <a:r>
              <a:rPr lang="en-US" sz="3600" b="1" dirty="0">
                <a:solidFill>
                  <a:srgbClr val="FF0000"/>
                </a:solidFill>
                <a:latin typeface="Times New Roman" panose="02020603050405020304" pitchFamily="18" charset="0"/>
                <a:cs typeface="Times New Roman" panose="02020603050405020304" pitchFamily="18" charset="0"/>
              </a:rPr>
              <a:t> International Conference on Business Intelligence and Data Analytics (BIDA 2026)</a:t>
            </a:r>
            <a:endParaRPr lang="en-IN" sz="3600" b="1" dirty="0">
              <a:solidFill>
                <a:srgbClr val="FF0000"/>
              </a:solidFill>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a:xfrm>
            <a:off x="1813560" y="2987040"/>
            <a:ext cx="8295640" cy="3870960"/>
          </a:xfrm>
        </p:spPr>
        <p:txBody>
          <a:bodyPr>
            <a:normAutofit fontScale="70000" lnSpcReduction="20000"/>
          </a:bodyPr>
          <a:lstStyle/>
          <a:p>
            <a:r>
              <a:rPr lang="en-US" sz="3200" dirty="0">
                <a:solidFill>
                  <a:srgbClr val="0000FF"/>
                </a:solidFill>
                <a:latin typeface="Times New Roman" panose="02020603050405020304" pitchFamily="18" charset="0"/>
                <a:cs typeface="Times New Roman" panose="02020603050405020304" pitchFamily="18" charset="0"/>
              </a:rPr>
              <a:t>Enhanced Predictive Modeling for Early-Stage Lung Cancer Diagnosis through GenAI</a:t>
            </a:r>
            <a:endParaRPr lang="en-US" sz="3200" dirty="0">
              <a:solidFill>
                <a:srgbClr val="0000FF"/>
              </a:solidFill>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Paper ID </a:t>
            </a:r>
            <a:r>
              <a:rPr lang="en-US" sz="3200" b="1" dirty="0">
                <a:latin typeface="Times New Roman" panose="02020603050405020304" pitchFamily="18" charset="0"/>
                <a:cs typeface="Times New Roman" panose="02020603050405020304" pitchFamily="18" charset="0"/>
              </a:rPr>
              <a:t>- 1368</a:t>
            </a:r>
            <a:endParaRPr lang="en-US" sz="32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Presented by :</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Ms. P. Dhanalakshmi </a:t>
            </a:r>
            <a:endParaRPr lang="en-US" sz="2000" b="1" dirty="0">
              <a:latin typeface="Times New Roman" panose="02020603050405020304" pitchFamily="18" charset="0"/>
              <a:cs typeface="Times New Roman" panose="02020603050405020304" pitchFamily="18" charset="0"/>
            </a:endParaRPr>
          </a:p>
          <a:p>
            <a:r>
              <a:rPr lang="en-US" sz="2000" b="1" dirty="0" err="1">
                <a:latin typeface="Times New Roman" panose="02020603050405020304" pitchFamily="18" charset="0"/>
                <a:cs typeface="Times New Roman" panose="02020603050405020304" pitchFamily="18" charset="0"/>
              </a:rPr>
              <a:t>Mr.K</a:t>
            </a:r>
            <a:r>
              <a:rPr lang="en-US" sz="2000" b="1" dirty="0">
                <a:latin typeface="Times New Roman" panose="02020603050405020304" pitchFamily="18" charset="0"/>
                <a:cs typeface="Times New Roman" panose="02020603050405020304" pitchFamily="18" charset="0"/>
              </a:rPr>
              <a:t>. Naveen Kumar</a:t>
            </a:r>
            <a:endParaRPr lang="en-US" sz="2000" b="1"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 Jayasree</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S.Tulasi</a:t>
            </a:r>
            <a:r>
              <a:rPr lang="en-US" sz="2000" dirty="0">
                <a:latin typeface="Times New Roman" panose="02020603050405020304" pitchFamily="18" charset="0"/>
                <a:cs typeface="Times New Roman" panose="02020603050405020304" pitchFamily="18" charset="0"/>
              </a:rPr>
              <a:t> Rao</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 Muni Bhargav</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N. Sai Jaswanth</a:t>
            </a:r>
            <a:endParaRPr lang="en-US" sz="2000" dirty="0">
              <a:latin typeface="Times New Roman" panose="02020603050405020304" pitchFamily="18" charset="0"/>
              <a:cs typeface="Times New Roman" panose="02020603050405020304" pitchFamily="18" charset="0"/>
            </a:endParaRPr>
          </a:p>
          <a:p>
            <a:r>
              <a:rPr lang="en-US" b="1" dirty="0" err="1">
                <a:latin typeface="Times New Roman" panose="02020603050405020304" pitchFamily="18" charset="0"/>
                <a:cs typeface="Times New Roman" panose="02020603050405020304" pitchFamily="18" charset="0"/>
              </a:rPr>
              <a:t>Organised</a:t>
            </a:r>
            <a:r>
              <a:rPr lang="en-US" b="1" dirty="0">
                <a:latin typeface="Times New Roman" panose="02020603050405020304" pitchFamily="18" charset="0"/>
                <a:cs typeface="Times New Roman" panose="02020603050405020304" pitchFamily="18" charset="0"/>
              </a:rPr>
              <a:t> by:</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hlinkClick r:id="rId1"/>
              </a:rPr>
              <a:t>RV Institute of Management (RVIM), Bangalore, India</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Technically Sponsored by </a:t>
            </a:r>
            <a:r>
              <a:rPr lang="en-US" b="1" dirty="0">
                <a:latin typeface="Times New Roman" panose="02020603050405020304" pitchFamily="18" charset="0"/>
                <a:cs typeface="Times New Roman" panose="02020603050405020304" pitchFamily="18" charset="0"/>
                <a:hlinkClick r:id="rId2"/>
              </a:rPr>
              <a:t>Soft Computing Research Society</a:t>
            </a:r>
            <a:endParaRPr lang="en-US" b="1"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IN" dirty="0"/>
          </a:p>
        </p:txBody>
      </p:sp>
      <p:pic>
        <p:nvPicPr>
          <p:cNvPr id="4" name="Picture 3"/>
          <p:cNvPicPr>
            <a:picLocks noChangeAspect="1"/>
          </p:cNvPicPr>
          <p:nvPr/>
        </p:nvPicPr>
        <p:blipFill>
          <a:blip r:embed="rId3"/>
          <a:stretch>
            <a:fillRect/>
          </a:stretch>
        </p:blipFill>
        <p:spPr>
          <a:xfrm>
            <a:off x="9026525" y="281940"/>
            <a:ext cx="2865120" cy="1501140"/>
          </a:xfrm>
          <a:prstGeom prst="rect">
            <a:avLst/>
          </a:prstGeom>
        </p:spPr>
      </p:pic>
      <p:pic>
        <p:nvPicPr>
          <p:cNvPr id="5" name="Picture 4"/>
          <p:cNvPicPr>
            <a:picLocks noChangeAspect="1"/>
          </p:cNvPicPr>
          <p:nvPr/>
        </p:nvPicPr>
        <p:blipFill>
          <a:blip r:embed="rId4"/>
          <a:stretch>
            <a:fillRect/>
          </a:stretch>
        </p:blipFill>
        <p:spPr>
          <a:xfrm>
            <a:off x="254635" y="140970"/>
            <a:ext cx="1889760" cy="1783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9103" y="-13632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Contents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99103" y="1042219"/>
            <a:ext cx="11793794" cy="5673212"/>
          </a:xfrm>
        </p:spPr>
        <p:txBody>
          <a:bodyPr>
            <a:normAutofit/>
          </a:bodyPr>
          <a:lstStyle/>
          <a:p>
            <a:r>
              <a:rPr lang="en-US" dirty="0">
                <a:latin typeface="Times New Roman" panose="02020603050405020304" pitchFamily="18" charset="0"/>
                <a:cs typeface="Times New Roman" panose="02020603050405020304" pitchFamily="18" charset="0"/>
              </a:rPr>
              <a:t>Abstract</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Introduction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Literature Survey</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Existing System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Proposed  System</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Conclusion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References</a:t>
            </a: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82" y="1"/>
            <a:ext cx="12051891" cy="1061884"/>
          </a:xfrm>
        </p:spPr>
        <p:txBody>
          <a:bodyPr/>
          <a:lstStyle/>
          <a:p>
            <a:r>
              <a:rPr lang="en-US" b="1" dirty="0">
                <a:solidFill>
                  <a:srgbClr val="FF0000"/>
                </a:solidFill>
                <a:latin typeface="Times New Roman" panose="02020603050405020304" pitchFamily="18" charset="0"/>
                <a:cs typeface="Times New Roman" panose="02020603050405020304" pitchFamily="18" charset="0"/>
              </a:rPr>
              <a:t>Abstract</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826" y="894735"/>
            <a:ext cx="12051891" cy="5963263"/>
          </a:xfrm>
        </p:spPr>
        <p:txBody>
          <a:bodyPr>
            <a:normAutofit/>
          </a:bodyPr>
          <a:lstStyle/>
          <a:p>
            <a:pPr marL="0" indent="0" algn="just">
              <a:lnSpc>
                <a:spcPct val="150000"/>
              </a:lnSpc>
              <a:buNone/>
            </a:pPr>
            <a:r>
              <a:rPr lang="en-US" sz="2400" dirty="0">
                <a:latin typeface="Times New Roman" panose="02020603050405020304" pitchFamily="18" charset="0"/>
                <a:cs typeface="Times New Roman" panose="02020603050405020304" pitchFamily="18" charset="0"/>
              </a:rPr>
              <a:t>	Early detection of lung cancer improves treatment outcomes, but </a:t>
            </a:r>
            <a:r>
              <a:rPr lang="en-US" sz="2400" b="1" dirty="0">
                <a:solidFill>
                  <a:srgbClr val="00B0F0"/>
                </a:solidFill>
                <a:latin typeface="Times New Roman" panose="02020603050405020304" pitchFamily="18" charset="0"/>
                <a:cs typeface="Times New Roman" panose="02020603050405020304" pitchFamily="18" charset="0"/>
              </a:rPr>
              <a:t>limited and imbalanced datasets</a:t>
            </a:r>
            <a:r>
              <a:rPr lang="en-US" sz="2400" dirty="0">
                <a:latin typeface="Times New Roman" panose="02020603050405020304" pitchFamily="18" charset="0"/>
                <a:cs typeface="Times New Roman" panose="02020603050405020304" pitchFamily="18" charset="0"/>
              </a:rPr>
              <a:t> reduce prediction accuracy. This study proposes a </a:t>
            </a:r>
            <a:r>
              <a:rPr lang="en-US" sz="2400" b="1" dirty="0">
                <a:solidFill>
                  <a:srgbClr val="00B0F0"/>
                </a:solidFill>
                <a:latin typeface="Times New Roman" panose="02020603050405020304" pitchFamily="18" charset="0"/>
                <a:cs typeface="Times New Roman" panose="02020603050405020304" pitchFamily="18" charset="0"/>
              </a:rPr>
              <a:t>generative-enhanced framework</a:t>
            </a:r>
            <a:r>
              <a:rPr lang="en-US" sz="2400" dirty="0">
                <a:latin typeface="Times New Roman" panose="02020603050405020304" pitchFamily="18" charset="0"/>
                <a:cs typeface="Times New Roman" panose="02020603050405020304" pitchFamily="18" charset="0"/>
              </a:rPr>
              <a:t> that integrates </a:t>
            </a:r>
            <a:r>
              <a:rPr lang="en-US" sz="2400" b="1" dirty="0">
                <a:solidFill>
                  <a:srgbClr val="00B0F0"/>
                </a:solidFill>
                <a:latin typeface="Times New Roman" panose="02020603050405020304" pitchFamily="18" charset="0"/>
                <a:cs typeface="Times New Roman" panose="02020603050405020304" pitchFamily="18" charset="0"/>
              </a:rPr>
              <a:t>Conditional Tabular Generative Adversarial Networks (CTGAN)</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with </a:t>
            </a:r>
            <a:r>
              <a:rPr lang="en-US" sz="2400" b="1" dirty="0">
                <a:solidFill>
                  <a:srgbClr val="00B0F0"/>
                </a:solidFill>
                <a:latin typeface="Times New Roman" panose="02020603050405020304" pitchFamily="18" charset="0"/>
                <a:cs typeface="Times New Roman" panose="02020603050405020304" pitchFamily="18" charset="0"/>
              </a:rPr>
              <a:t>tree-based models</a:t>
            </a:r>
            <a:r>
              <a:rPr lang="en-US" sz="2400" dirty="0">
                <a:latin typeface="Times New Roman" panose="02020603050405020304" pitchFamily="18" charset="0"/>
                <a:cs typeface="Times New Roman" panose="02020603050405020304" pitchFamily="18" charset="0"/>
              </a:rPr>
              <a:t> like </a:t>
            </a:r>
            <a:r>
              <a:rPr lang="en-US" sz="2400" b="1" dirty="0">
                <a:solidFill>
                  <a:srgbClr val="00B0F0"/>
                </a:solidFill>
                <a:latin typeface="Times New Roman" panose="02020603050405020304" pitchFamily="18" charset="0"/>
                <a:cs typeface="Times New Roman" panose="02020603050405020304" pitchFamily="18" charset="0"/>
              </a:rPr>
              <a:t>Random Forest</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and </a:t>
            </a:r>
            <a:r>
              <a:rPr lang="en-US" sz="2400" b="1" dirty="0">
                <a:solidFill>
                  <a:srgbClr val="00B0F0"/>
                </a:solidFill>
                <a:latin typeface="Times New Roman" panose="02020603050405020304" pitchFamily="18" charset="0"/>
                <a:cs typeface="Times New Roman" panose="02020603050405020304" pitchFamily="18" charset="0"/>
              </a:rPr>
              <a:t>Gradient Boosting</a:t>
            </a:r>
            <a:r>
              <a:rPr lang="en-US" sz="2400" dirty="0">
                <a:latin typeface="Times New Roman" panose="02020603050405020304" pitchFamily="18" charset="0"/>
                <a:cs typeface="Times New Roman" panose="02020603050405020304" pitchFamily="18" charset="0"/>
              </a:rPr>
              <a:t>. CTGAN generates </a:t>
            </a:r>
            <a:r>
              <a:rPr lang="en-US" sz="2400" b="1" dirty="0">
                <a:solidFill>
                  <a:srgbClr val="00B0F0"/>
                </a:solidFill>
                <a:latin typeface="Times New Roman" panose="02020603050405020304" pitchFamily="18" charset="0"/>
                <a:cs typeface="Times New Roman" panose="02020603050405020304" pitchFamily="18" charset="0"/>
              </a:rPr>
              <a:t>synthetic, class-balanced data</a:t>
            </a:r>
            <a:r>
              <a:rPr lang="en-US" sz="2400" dirty="0">
                <a:latin typeface="Times New Roman" panose="02020603050405020304" pitchFamily="18" charset="0"/>
                <a:cs typeface="Times New Roman" panose="02020603050405020304" pitchFamily="18" charset="0"/>
              </a:rPr>
              <a:t>, addressing data scarcity and improving model performance. Experiments show higher </a:t>
            </a:r>
            <a:r>
              <a:rPr lang="en-US" sz="2400" b="1" dirty="0">
                <a:solidFill>
                  <a:srgbClr val="00B0F0"/>
                </a:solidFill>
                <a:latin typeface="Times New Roman" panose="02020603050405020304" pitchFamily="18" charset="0"/>
                <a:cs typeface="Times New Roman" panose="02020603050405020304" pitchFamily="18" charset="0"/>
              </a:rPr>
              <a:t>accuracy, sensitivity, and F1-score</a:t>
            </a:r>
            <a:r>
              <a:rPr lang="en-US" sz="2400" dirty="0">
                <a:solidFill>
                  <a:srgbClr val="00B0F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compared to conventional methods.</a:t>
            </a:r>
            <a:endParaRPr lang="en-IN" sz="2400"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850"/>
            <a:ext cx="11836255" cy="898047"/>
          </a:xfrm>
        </p:spPr>
        <p:txBody>
          <a:bodyPr/>
          <a:lstStyle/>
          <a:p>
            <a:r>
              <a:rPr lang="en-US" b="1" dirty="0">
                <a:solidFill>
                  <a:srgbClr val="FF0000"/>
                </a:solidFill>
                <a:latin typeface="Times New Roman" panose="02020603050405020304" pitchFamily="18" charset="0"/>
                <a:cs typeface="Times New Roman" panose="02020603050405020304" pitchFamily="18" charset="0"/>
              </a:rPr>
              <a:t>Introduction</a:t>
            </a:r>
            <a:r>
              <a:rPr lang="en-US" b="1" dirty="0"/>
              <a:t> </a:t>
            </a:r>
            <a:endParaRPr lang="en-IN" b="1"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rcRect b="1884"/>
          <a:stretch>
            <a:fillRect/>
          </a:stretch>
        </p:blipFill>
        <p:spPr>
          <a:xfrm>
            <a:off x="4060640" y="778123"/>
            <a:ext cx="2959593" cy="2650877"/>
          </a:xfrm>
          <a:prstGeom prst="rect">
            <a:avLst/>
          </a:prstGeom>
        </p:spPr>
      </p:pic>
      <p:sp>
        <p:nvSpPr>
          <p:cNvPr id="6" name="TextBox 5"/>
          <p:cNvSpPr txBox="1"/>
          <p:nvPr/>
        </p:nvSpPr>
        <p:spPr>
          <a:xfrm>
            <a:off x="177872" y="3953589"/>
            <a:ext cx="12014128" cy="2585323"/>
          </a:xfrm>
          <a:prstGeom prst="rect">
            <a:avLst/>
          </a:prstGeom>
          <a:noFill/>
        </p:spPr>
        <p:txBody>
          <a:bodyPr wrap="square" rtlCol="0">
            <a:spAutoFit/>
          </a:bodyPr>
          <a:lstStyle/>
          <a:p>
            <a:pPr lvl="0" eaLnBrk="0" fontAlgn="base" hangingPunct="0">
              <a:lnSpc>
                <a:spcPct val="150000"/>
              </a:lnSpc>
              <a:spcBef>
                <a:spcPct val="0"/>
              </a:spcBef>
              <a:spcAft>
                <a:spcPct val="0"/>
              </a:spcAft>
            </a:pPr>
            <a:r>
              <a:rPr lang="en-US" sz="2400" dirty="0">
                <a:latin typeface="Times New Roman" panose="02020603050405020304" pitchFamily="18" charset="0"/>
                <a:cs typeface="Times New Roman" panose="02020603050405020304" pitchFamily="18" charset="0"/>
              </a:rPr>
              <a:t>	Lung cancer is a serious disease in which abnormal cells grow uncontrollably in the lungs. It is one of the leading causes of cancer-related deaths worldwide, mainly because it is often diagnosed at a late stage. Early detection can significantly improve survival and treatment outcomes.</a:t>
            </a:r>
            <a:endParaRPr lang="en-US" sz="2400" dirty="0">
              <a:latin typeface="Times New Roman" panose="02020603050405020304" pitchFamily="18" charset="0"/>
              <a:cs typeface="Times New Roman" panose="02020603050405020304" pitchFamily="18" charset="0"/>
            </a:endParaRPr>
          </a:p>
          <a:p>
            <a:endParaRPr lang="en-IN" dirty="0"/>
          </a:p>
        </p:txBody>
      </p:sp>
      <p:sp>
        <p:nvSpPr>
          <p:cNvPr id="7" name="TextBox 6"/>
          <p:cNvSpPr txBox="1"/>
          <p:nvPr/>
        </p:nvSpPr>
        <p:spPr>
          <a:xfrm>
            <a:off x="4333567" y="3429000"/>
            <a:ext cx="2224549" cy="369332"/>
          </a:xfrm>
          <a:prstGeom prst="rect">
            <a:avLst/>
          </a:prstGeom>
          <a:noFill/>
        </p:spPr>
        <p:txBody>
          <a:bodyPr wrap="square" rtlCol="0">
            <a:spAutoFit/>
          </a:bodyPr>
          <a:lstStyle/>
          <a:p>
            <a:r>
              <a:rPr lang="en-US" b="1" dirty="0"/>
              <a:t>Fig-1 : Lung Cancer</a:t>
            </a:r>
            <a:endParaRPr lang="en-IN" dirty="0"/>
          </a:p>
        </p:txBody>
      </p:sp>
      <p:sp>
        <p:nvSpPr>
          <p:cNvPr id="8" name="Slide Number Placeholder 7"/>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974" y="217641"/>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Types of Lung Cancer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21225" y="1730477"/>
            <a:ext cx="11749549" cy="5358580"/>
          </a:xfrm>
        </p:spPr>
        <p:txBody>
          <a:bodyPr>
            <a:normAutofit/>
          </a:bodyPr>
          <a:lstStyle/>
          <a:p>
            <a:pPr>
              <a:lnSpc>
                <a:spcPct val="150000"/>
              </a:lnSpc>
            </a:pPr>
            <a:r>
              <a:rPr lang="en-US" b="1" dirty="0"/>
              <a:t>Lung Cancer</a:t>
            </a:r>
            <a:r>
              <a:rPr lang="en-US" dirty="0"/>
              <a:t> is mainly classified into two major types: </a:t>
            </a:r>
            <a:endParaRPr lang="en-US" dirty="0"/>
          </a:p>
          <a:p>
            <a:pPr marL="0" indent="0">
              <a:lnSpc>
                <a:spcPct val="150000"/>
              </a:lnSpc>
              <a:buNone/>
            </a:pPr>
            <a:r>
              <a:rPr lang="en-US" dirty="0"/>
              <a:t>                  1. </a:t>
            </a:r>
            <a:r>
              <a:rPr lang="en-US" dirty="0">
                <a:solidFill>
                  <a:srgbClr val="0070C0"/>
                </a:solidFill>
              </a:rPr>
              <a:t>Non-Small Cell Lung Cancer (NSCLC) </a:t>
            </a:r>
            <a:r>
              <a:rPr lang="en-US" dirty="0"/>
              <a:t>and</a:t>
            </a:r>
            <a:endParaRPr lang="en-US" dirty="0"/>
          </a:p>
          <a:p>
            <a:pPr marL="0" indent="0">
              <a:lnSpc>
                <a:spcPct val="150000"/>
              </a:lnSpc>
              <a:buNone/>
            </a:pPr>
            <a:r>
              <a:rPr lang="en-US" dirty="0"/>
              <a:t>                  2. </a:t>
            </a:r>
            <a:r>
              <a:rPr lang="en-US" dirty="0">
                <a:solidFill>
                  <a:srgbClr val="0070C0"/>
                </a:solidFill>
              </a:rPr>
              <a:t>Small Cell Lung Cancer (SCLC). </a:t>
            </a:r>
            <a:endParaRPr lang="en-US" dirty="0">
              <a:solidFill>
                <a:srgbClr val="0070C0"/>
              </a:solidFill>
            </a:endParaRPr>
          </a:p>
          <a:p>
            <a:pPr>
              <a:lnSpc>
                <a:spcPct val="150000"/>
              </a:lnSpc>
            </a:pPr>
            <a:r>
              <a:rPr lang="en-US" dirty="0"/>
              <a:t>In addition, there are rare types like lung carcinoid tumors, which are slow-growing, and other uncommon forms such as sarcomas and lymphomas. Each type varies in its behavior, progression, and treatment approach.</a:t>
            </a:r>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pic>
        <p:nvPicPr>
          <p:cNvPr id="5" name="Content Placeholder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227270" y="365125"/>
            <a:ext cx="11737459" cy="5858694"/>
          </a:xfrm>
          <a:prstGeom prst="rect">
            <a:avLst/>
          </a:prstGeom>
        </p:spPr>
      </p:pic>
      <p:sp>
        <p:nvSpPr>
          <p:cNvPr id="6" name="TextBox 5"/>
          <p:cNvSpPr txBox="1"/>
          <p:nvPr/>
        </p:nvSpPr>
        <p:spPr>
          <a:xfrm>
            <a:off x="4581832" y="6308209"/>
            <a:ext cx="429669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2 : Types of Lung Cancer</a:t>
            </a:r>
            <a:endParaRPr lang="en-IN" b="1" dirty="0">
              <a:latin typeface="Times New Roman" panose="02020603050405020304" pitchFamily="18"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0780" y="168479"/>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Lung Cancer Symptoms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250722" y="1419746"/>
            <a:ext cx="11690555" cy="4921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2000" b="0" i="0" u="none" strike="noStrike" cap="none" normalizeH="0" baseline="0" dirty="0">
                <a:ln>
                  <a:noFill/>
                </a:ln>
                <a:solidFill>
                  <a:schemeClr val="tx1"/>
                </a:solidFill>
                <a:effectLst/>
                <a:latin typeface="Arial" panose="020B0604020202020204" pitchFamily="34" charset="0"/>
              </a:rPr>
              <a:t>Long-lasting cough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Chest pain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Blood while coughing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Breathing trouble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Feeling very tired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Weight loss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Loss of appetite </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200000"/>
              </a:lnSpc>
              <a:spcBef>
                <a:spcPct val="0"/>
              </a:spcBef>
              <a:spcAft>
                <a:spcPct val="0"/>
              </a:spcAft>
            </a:pPr>
            <a:r>
              <a:rPr kumimoji="0" lang="en-US" altLang="en-US" sz="2000" b="0" i="0" u="none" strike="noStrike" cap="none" normalizeH="0" baseline="0" dirty="0">
                <a:ln>
                  <a:noFill/>
                </a:ln>
                <a:solidFill>
                  <a:schemeClr val="tx1"/>
                </a:solidFill>
                <a:effectLst/>
                <a:latin typeface="Arial" panose="020B0604020202020204" pitchFamily="34" charset="0"/>
              </a:rPr>
              <a:t> Frequent chest infections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Slide Number Placeholder 4"/>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7090" y="-332965"/>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                          Literature Survey</a:t>
            </a:r>
            <a:endParaRPr lang="en-IN"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nvPr>
        </p:nvGraphicFramePr>
        <p:xfrm>
          <a:off x="-2" y="766915"/>
          <a:ext cx="12192000" cy="6100616"/>
        </p:xfrm>
        <a:graphic>
          <a:graphicData uri="http://schemas.openxmlformats.org/drawingml/2006/table">
            <a:tbl>
              <a:tblPr firstRow="1" bandRow="1">
                <a:tableStyleId>{5C22544A-7EE6-4342-B048-85BDC9FD1C3A}</a:tableStyleId>
              </a:tblPr>
              <a:tblGrid>
                <a:gridCol w="934722"/>
                <a:gridCol w="1341120"/>
                <a:gridCol w="3840480"/>
                <a:gridCol w="3637278"/>
                <a:gridCol w="2438400"/>
              </a:tblGrid>
              <a:tr h="329958">
                <a:tc>
                  <a:txBody>
                    <a:bodyPr/>
                    <a:lstStyle/>
                    <a:p>
                      <a:pPr algn="l">
                        <a:buNone/>
                      </a:pPr>
                      <a:r>
                        <a:rPr lang="en-IN" sz="1600" dirty="0">
                          <a:latin typeface="Times New Roman" panose="02020603050405020304" pitchFamily="18" charset="0"/>
                          <a:cs typeface="Times New Roman" panose="02020603050405020304" pitchFamily="18" charset="0"/>
                        </a:rPr>
                        <a:t>Year</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latin typeface="Times New Roman" panose="02020603050405020304" pitchFamily="18" charset="0"/>
                          <a:cs typeface="Times New Roman" panose="02020603050405020304" pitchFamily="18" charset="0"/>
                        </a:rPr>
                        <a:t>Author</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latin typeface="Times New Roman" panose="02020603050405020304" pitchFamily="18" charset="0"/>
                          <a:cs typeface="Times New Roman" panose="02020603050405020304" pitchFamily="18" charset="0"/>
                        </a:rPr>
                        <a:t>          Title</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latin typeface="Times New Roman" panose="02020603050405020304" pitchFamily="18" charset="0"/>
                          <a:cs typeface="Times New Roman" panose="02020603050405020304" pitchFamily="18" charset="0"/>
                        </a:rPr>
                        <a:t>Implementation</a:t>
                      </a:r>
                      <a:endParaRPr lang="en-IN" sz="1600" dirty="0">
                        <a:latin typeface="Times New Roman" panose="02020603050405020304" pitchFamily="18" charset="0"/>
                        <a:cs typeface="Times New Roman" panose="02020603050405020304" pitchFamily="18" charset="0"/>
                      </a:endParaRPr>
                    </a:p>
                  </a:txBody>
                  <a:tcPr anchor="ctr"/>
                </a:tc>
                <a:tc>
                  <a:txBody>
                    <a:bodyPr/>
                    <a:lstStyle/>
                    <a:p>
                      <a:pPr algn="l">
                        <a:buNone/>
                      </a:pPr>
                      <a:r>
                        <a:rPr lang="en-IN" sz="1600" dirty="0">
                          <a:latin typeface="Times New Roman" panose="02020603050405020304" pitchFamily="18" charset="0"/>
                          <a:cs typeface="Times New Roman" panose="02020603050405020304" pitchFamily="18" charset="0"/>
                        </a:rPr>
                        <a:t>Drawbacks</a:t>
                      </a:r>
                      <a:endParaRPr lang="en-IN" sz="1600" dirty="0">
                        <a:latin typeface="Times New Roman" panose="02020603050405020304" pitchFamily="18" charset="0"/>
                        <a:cs typeface="Times New Roman" panose="02020603050405020304" pitchFamily="18" charset="0"/>
                      </a:endParaRPr>
                    </a:p>
                  </a:txBody>
                  <a:tcPr anchor="ctr"/>
                </a:tc>
              </a:tr>
              <a:tr h="1036683">
                <a:tc>
                  <a:txBody>
                    <a:bodyPr/>
                    <a:lstStyle/>
                    <a:p>
                      <a:pPr algn="ctr">
                        <a:buNone/>
                      </a:pPr>
                      <a:r>
                        <a:rPr lang="en-IN" sz="1400" dirty="0">
                          <a:latin typeface="Times New Roman" panose="02020603050405020304" pitchFamily="18" charset="0"/>
                          <a:cs typeface="Times New Roman" panose="02020603050405020304" pitchFamily="18" charset="0"/>
                        </a:rPr>
                        <a:t>2022</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Sharma et al.</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Hybrid ML–DL Framework for Lung Cancer Prediction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Combined deep learning models with traditional ML algorithms for classification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Complex architecture, high computational resource requirement</a:t>
                      </a:r>
                      <a:endParaRPr lang="en-US" sz="1400">
                        <a:latin typeface="Times New Roman" panose="02020603050405020304" pitchFamily="18" charset="0"/>
                        <a:cs typeface="Times New Roman" panose="02020603050405020304" pitchFamily="18" charset="0"/>
                      </a:endParaRPr>
                    </a:p>
                  </a:txBody>
                  <a:tcPr anchor="ctr"/>
                </a:tc>
              </a:tr>
              <a:tr h="1006130">
                <a:tc>
                  <a:txBody>
                    <a:bodyPr/>
                    <a:lstStyle/>
                    <a:p>
                      <a:pPr algn="ctr">
                        <a:buNone/>
                      </a:pPr>
                      <a:r>
                        <a:rPr lang="en-IN" sz="1400" dirty="0">
                          <a:latin typeface="Times New Roman" panose="02020603050405020304" pitchFamily="18" charset="0"/>
                          <a:cs typeface="Times New Roman" panose="02020603050405020304" pitchFamily="18" charset="0"/>
                        </a:rPr>
                        <a:t>2023</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dirty="0" err="1">
                          <a:latin typeface="Times New Roman" panose="02020603050405020304" pitchFamily="18" charset="0"/>
                          <a:cs typeface="Times New Roman" panose="02020603050405020304" pitchFamily="18" charset="0"/>
                        </a:rPr>
                        <a:t>Fatoki</a:t>
                      </a:r>
                      <a:r>
                        <a:rPr lang="en-IN" sz="1400" dirty="0">
                          <a:latin typeface="Times New Roman" panose="02020603050405020304" pitchFamily="18" charset="0"/>
                          <a:cs typeface="Times New Roman" panose="02020603050405020304" pitchFamily="18" charset="0"/>
                        </a:rPr>
                        <a:t> et al.</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Comparative Analysis of Machine Learning Models for Lung Cancer Detection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Evaluated KNN, Logistic Regression (LR), SVM, and Naïve Bayes (NB)</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Small dataset, class imbalance issue</a:t>
                      </a:r>
                      <a:endParaRPr lang="en-US" sz="1400">
                        <a:latin typeface="Times New Roman" panose="02020603050405020304" pitchFamily="18" charset="0"/>
                        <a:cs typeface="Times New Roman" panose="02020603050405020304" pitchFamily="18" charset="0"/>
                      </a:endParaRPr>
                    </a:p>
                  </a:txBody>
                  <a:tcPr anchor="ctr"/>
                </a:tc>
              </a:tr>
              <a:tr h="1273638">
                <a:tc>
                  <a:txBody>
                    <a:bodyPr/>
                    <a:lstStyle/>
                    <a:p>
                      <a:pPr algn="ctr">
                        <a:buNone/>
                      </a:pPr>
                      <a:r>
                        <a:rPr lang="en-IN" sz="1400">
                          <a:latin typeface="Times New Roman" panose="02020603050405020304" pitchFamily="18" charset="0"/>
                          <a:cs typeface="Times New Roman" panose="02020603050405020304" pitchFamily="18" charset="0"/>
                        </a:rPr>
                        <a:t>2023</a:t>
                      </a:r>
                      <a:endParaRPr lang="en-IN" sz="14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a:latin typeface="Times New Roman" panose="02020603050405020304" pitchFamily="18" charset="0"/>
                          <a:cs typeface="Times New Roman" panose="02020603050405020304" pitchFamily="18" charset="0"/>
                        </a:rPr>
                        <a:t>Wang et al.</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Deep Learning Models for Medical Image-Based Lung Cancer Detection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CNN and RNN architectures for feature extraction and classification from medical images</a:t>
                      </a:r>
                      <a:endParaRPr lang="en-US"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a:latin typeface="Times New Roman" panose="02020603050405020304" pitchFamily="18" charset="0"/>
                          <a:cs typeface="Times New Roman" panose="02020603050405020304" pitchFamily="18" charset="0"/>
                        </a:rPr>
                        <a:t>Requires large dataset, low interpretability</a:t>
                      </a:r>
                      <a:endParaRPr lang="en-US" sz="1400">
                        <a:latin typeface="Times New Roman" panose="02020603050405020304" pitchFamily="18" charset="0"/>
                        <a:cs typeface="Times New Roman" panose="02020603050405020304" pitchFamily="18" charset="0"/>
                      </a:endParaRPr>
                    </a:p>
                  </a:txBody>
                  <a:tcPr anchor="ctr"/>
                </a:tc>
              </a:tr>
              <a:tr h="816295">
                <a:tc>
                  <a:txBody>
                    <a:bodyPr/>
                    <a:lstStyle/>
                    <a:p>
                      <a:pPr algn="ctr">
                        <a:buNone/>
                      </a:pPr>
                      <a:r>
                        <a:rPr lang="en-IN" sz="1400" dirty="0">
                          <a:latin typeface="Times New Roman" panose="02020603050405020304" pitchFamily="18" charset="0"/>
                          <a:cs typeface="Times New Roman" panose="02020603050405020304" pitchFamily="18" charset="0"/>
                        </a:rPr>
                        <a:t>2024</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a:latin typeface="Times New Roman" panose="02020603050405020304" pitchFamily="18" charset="0"/>
                          <a:cs typeface="Times New Roman" panose="02020603050405020304" pitchFamily="18" charset="0"/>
                        </a:rPr>
                        <a:t>Bhuiyan et al.</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Ensemble Machine Learning Approaches for Lung Cancer Diagnosis</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Implemented LR,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SVM, </a:t>
                      </a:r>
                      <a:r>
                        <a:rPr lang="en-US" sz="1400" dirty="0" err="1">
                          <a:latin typeface="Times New Roman" panose="02020603050405020304" pitchFamily="18" charset="0"/>
                          <a:cs typeface="Times New Roman" panose="02020603050405020304" pitchFamily="18" charset="0"/>
                        </a:rPr>
                        <a:t>LightGBM</a:t>
                      </a:r>
                      <a:r>
                        <a:rPr lang="en-US" sz="1400" dirty="0">
                          <a:latin typeface="Times New Roman" panose="02020603050405020304" pitchFamily="18" charset="0"/>
                          <a:cs typeface="Times New Roman" panose="02020603050405020304" pitchFamily="18" charset="0"/>
                        </a:rPr>
                        <a:t>, and AdaBoost</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Biased prediction due to class imbalance</a:t>
                      </a:r>
                      <a:endParaRPr lang="en-US" sz="1400" dirty="0">
                        <a:latin typeface="Times New Roman" panose="02020603050405020304" pitchFamily="18" charset="0"/>
                        <a:cs typeface="Times New Roman" panose="02020603050405020304" pitchFamily="18" charset="0"/>
                      </a:endParaRPr>
                    </a:p>
                  </a:txBody>
                  <a:tcPr anchor="ctr"/>
                </a:tc>
              </a:tr>
              <a:tr h="816295">
                <a:tc>
                  <a:txBody>
                    <a:bodyPr/>
                    <a:lstStyle/>
                    <a:p>
                      <a:pPr algn="ctr">
                        <a:buNone/>
                      </a:pPr>
                      <a:r>
                        <a:rPr lang="en-IN" sz="1400">
                          <a:latin typeface="Times New Roman" panose="02020603050405020304" pitchFamily="18" charset="0"/>
                          <a:cs typeface="Times New Roman" panose="02020603050405020304" pitchFamily="18" charset="0"/>
                        </a:rPr>
                        <a:t>2024</a:t>
                      </a:r>
                      <a:endParaRPr lang="en-IN" sz="14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a:latin typeface="Times New Roman" panose="02020603050405020304" pitchFamily="18" charset="0"/>
                          <a:cs typeface="Times New Roman" panose="02020603050405020304" pitchFamily="18" charset="0"/>
                        </a:rPr>
                        <a:t>Kumar et al.</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IN" sz="1400">
                          <a:latin typeface="Times New Roman" panose="02020603050405020304" pitchFamily="18" charset="0"/>
                          <a:cs typeface="Times New Roman" panose="02020603050405020304" pitchFamily="18" charset="0"/>
                        </a:rPr>
                        <a:t>Explainable AI-Based Tissue Image Classification Model</a:t>
                      </a:r>
                      <a:endParaRPr lang="en-IN" sz="140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Applied explainable deep learning techniques for tissue image detection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High computational complexity</a:t>
                      </a:r>
                      <a:endParaRPr lang="en-IN" sz="1400" dirty="0">
                        <a:latin typeface="Times New Roman" panose="02020603050405020304" pitchFamily="18" charset="0"/>
                        <a:cs typeface="Times New Roman" panose="02020603050405020304" pitchFamily="18" charset="0"/>
                      </a:endParaRPr>
                    </a:p>
                  </a:txBody>
                  <a:tcPr anchor="ctr"/>
                </a:tc>
              </a:tr>
              <a:tr h="816295">
                <a:tc>
                  <a:txBody>
                    <a:bodyPr/>
                    <a:lstStyle/>
                    <a:p>
                      <a:pPr algn="ctr">
                        <a:buNone/>
                      </a:pPr>
                      <a:r>
                        <a:rPr lang="en-IN" sz="1400">
                          <a:latin typeface="Times New Roman" panose="02020603050405020304" pitchFamily="18" charset="0"/>
                          <a:cs typeface="Times New Roman" panose="02020603050405020304" pitchFamily="18" charset="0"/>
                        </a:rPr>
                        <a:t>2025</a:t>
                      </a:r>
                      <a:endParaRPr lang="en-IN" sz="1400">
                        <a:latin typeface="Times New Roman" panose="02020603050405020304" pitchFamily="18" charset="0"/>
                        <a:cs typeface="Times New Roman" panose="02020603050405020304" pitchFamily="18" charset="0"/>
                      </a:endParaRPr>
                    </a:p>
                  </a:txBody>
                  <a:tcPr anchor="ctr"/>
                </a:tc>
                <a:tc>
                  <a:txBody>
                    <a:bodyPr/>
                    <a:lstStyle/>
                    <a:p>
                      <a:pPr algn="ctr">
                        <a:buNone/>
                      </a:pPr>
                      <a:r>
                        <a:rPr lang="en-IN" sz="1400" dirty="0">
                          <a:latin typeface="Times New Roman" panose="02020603050405020304" pitchFamily="18" charset="0"/>
                          <a:cs typeface="Times New Roman" panose="02020603050405020304" pitchFamily="18" charset="0"/>
                        </a:rPr>
                        <a:t>Alzahrani et al.</a:t>
                      </a:r>
                      <a:endParaRPr lang="en-IN"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CTGAN-Based Synthetic Data Generation for Lung Cancer Classification</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US" sz="1400" dirty="0">
                          <a:latin typeface="Times New Roman" panose="02020603050405020304" pitchFamily="18" charset="0"/>
                          <a:cs typeface="Times New Roman" panose="02020603050405020304" pitchFamily="18" charset="0"/>
                        </a:rPr>
                        <a:t>Used CTGAN for data augmentation with Random Forest classifier</a:t>
                      </a:r>
                      <a:endParaRPr lang="en-US" sz="1400" dirty="0">
                        <a:latin typeface="Times New Roman" panose="02020603050405020304" pitchFamily="18" charset="0"/>
                        <a:cs typeface="Times New Roman" panose="02020603050405020304" pitchFamily="18" charset="0"/>
                      </a:endParaRPr>
                    </a:p>
                  </a:txBody>
                  <a:tcPr anchor="ctr"/>
                </a:tc>
                <a:tc>
                  <a:txBody>
                    <a:bodyPr/>
                    <a:lstStyle/>
                    <a:p>
                      <a:pPr>
                        <a:buNone/>
                      </a:pPr>
                      <a:r>
                        <a:rPr lang="en-IN" sz="1400" dirty="0">
                          <a:latin typeface="Times New Roman" panose="02020603050405020304" pitchFamily="18" charset="0"/>
                          <a:cs typeface="Times New Roman" panose="02020603050405020304" pitchFamily="18" charset="0"/>
                        </a:rPr>
                        <a:t>Limited real-world validation</a:t>
                      </a:r>
                      <a:endParaRPr lang="en-IN" sz="1400" dirty="0">
                        <a:latin typeface="Times New Roman" panose="02020603050405020304" pitchFamily="18" charset="0"/>
                        <a:cs typeface="Times New Roman" panose="02020603050405020304" pitchFamily="18" charset="0"/>
                      </a:endParaRPr>
                    </a:p>
                  </a:txBody>
                  <a:tcPr anchor="ctr"/>
                </a:tc>
              </a:tr>
            </a:tbl>
          </a:graphicData>
        </a:graphic>
      </p:graphicFrame>
      <p:sp>
        <p:nvSpPr>
          <p:cNvPr id="5" name="Slide Number Placeholder 4"/>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445" y="13898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Existing System</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0445" y="1710352"/>
            <a:ext cx="12071554" cy="5254471"/>
          </a:xfrm>
        </p:spPr>
        <p:txBody>
          <a:bodyPr/>
          <a:lstStyle/>
          <a:p>
            <a:pPr marL="0" indent="0">
              <a:lnSpc>
                <a:spcPct val="150000"/>
              </a:lnSpc>
              <a:buNone/>
            </a:pPr>
            <a:r>
              <a:rPr lang="en-US" dirty="0">
                <a:latin typeface="Times New Roman" panose="02020603050405020304" pitchFamily="18" charset="0"/>
                <a:cs typeface="Times New Roman" panose="02020603050405020304" pitchFamily="18" charset="0"/>
              </a:rPr>
              <a:t>	Existing systems for </a:t>
            </a:r>
            <a:r>
              <a:rPr lang="en-US" b="1" dirty="0">
                <a:latin typeface="Times New Roman" panose="02020603050405020304" pitchFamily="18" charset="0"/>
                <a:cs typeface="Times New Roman" panose="02020603050405020304" pitchFamily="18" charset="0"/>
              </a:rPr>
              <a:t>Lung Cancer</a:t>
            </a:r>
            <a:r>
              <a:rPr lang="en-US" dirty="0">
                <a:latin typeface="Times New Roman" panose="02020603050405020304" pitchFamily="18" charset="0"/>
                <a:cs typeface="Times New Roman" panose="02020603050405020304" pitchFamily="18" charset="0"/>
              </a:rPr>
              <a:t> detection use imaging techniques </a:t>
            </a:r>
            <a:r>
              <a:rPr lang="en-US" dirty="0">
                <a:solidFill>
                  <a:srgbClr val="0070C0"/>
                </a:solidFill>
                <a:latin typeface="Times New Roman" panose="02020603050405020304" pitchFamily="18" charset="0"/>
                <a:cs typeface="Times New Roman" panose="02020603050405020304" pitchFamily="18" charset="0"/>
              </a:rPr>
              <a:t>like CT scans </a:t>
            </a:r>
            <a:r>
              <a:rPr lang="en-US" dirty="0">
                <a:latin typeface="Times New Roman" panose="02020603050405020304" pitchFamily="18" charset="0"/>
                <a:cs typeface="Times New Roman" panose="02020603050405020304" pitchFamily="18" charset="0"/>
              </a:rPr>
              <a:t>and X-rays along with biopsy methods for confirmation. </a:t>
            </a:r>
            <a:r>
              <a:rPr lang="en-US" dirty="0">
                <a:solidFill>
                  <a:srgbClr val="0070C0"/>
                </a:solidFill>
                <a:latin typeface="Times New Roman" panose="02020603050405020304" pitchFamily="18" charset="0"/>
                <a:cs typeface="Times New Roman" panose="02020603050405020304" pitchFamily="18" charset="0"/>
              </a:rPr>
              <a:t>Computer-Aided Diagnosis (CAD) </a:t>
            </a:r>
            <a:r>
              <a:rPr lang="en-US" dirty="0">
                <a:latin typeface="Times New Roman" panose="02020603050405020304" pitchFamily="18" charset="0"/>
                <a:cs typeface="Times New Roman" panose="02020603050405020304" pitchFamily="18" charset="0"/>
              </a:rPr>
              <a:t>helps analyze medical images, while </a:t>
            </a:r>
            <a:r>
              <a:rPr lang="en-US" dirty="0">
                <a:solidFill>
                  <a:srgbClr val="0070C0"/>
                </a:solidFill>
                <a:latin typeface="Times New Roman" panose="02020603050405020304" pitchFamily="18" charset="0"/>
                <a:cs typeface="Times New Roman" panose="02020603050405020304" pitchFamily="18" charset="0"/>
              </a:rPr>
              <a:t>Machine Learning and Deep Learning </a:t>
            </a:r>
            <a:r>
              <a:rPr lang="en-US" dirty="0">
                <a:latin typeface="Times New Roman" panose="02020603050405020304" pitchFamily="18" charset="0"/>
                <a:cs typeface="Times New Roman" panose="02020603050405020304" pitchFamily="18" charset="0"/>
              </a:rPr>
              <a:t>models automatically classify and predict cancer. These approaches improve early detection and assist doctors in decision-making.</a:t>
            </a: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9774" y="99654"/>
            <a:ext cx="10515600" cy="1325563"/>
          </a:xfrm>
        </p:spPr>
        <p:txBody>
          <a:bodyPr>
            <a:normAutofit/>
          </a:bodyPr>
          <a:lstStyle/>
          <a:p>
            <a:r>
              <a:rPr lang="en-US" sz="4800" b="1" dirty="0">
                <a:solidFill>
                  <a:srgbClr val="FF0000"/>
                </a:solidFill>
                <a:latin typeface="Times New Roman" panose="02020603050405020304" pitchFamily="18" charset="0"/>
                <a:cs typeface="Times New Roman" panose="02020603050405020304" pitchFamily="18" charset="0"/>
              </a:rPr>
              <a:t>Problem Identification </a:t>
            </a:r>
            <a:endParaRPr lang="en-IN" sz="48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9329" y="1425217"/>
            <a:ext cx="12113342" cy="4869273"/>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Early detection of </a:t>
            </a:r>
            <a:r>
              <a:rPr lang="en-US" b="1" dirty="0">
                <a:latin typeface="Times New Roman" panose="02020603050405020304" pitchFamily="18" charset="0"/>
                <a:cs typeface="Times New Roman" panose="02020603050405020304" pitchFamily="18" charset="0"/>
              </a:rPr>
              <a:t>Lung Cancer</a:t>
            </a:r>
            <a:r>
              <a:rPr lang="en-US" dirty="0">
                <a:latin typeface="Times New Roman" panose="02020603050405020304" pitchFamily="18" charset="0"/>
                <a:cs typeface="Times New Roman" panose="02020603050405020304" pitchFamily="18" charset="0"/>
              </a:rPr>
              <a:t> is difficult due to limited, imbalanced, and low-quality medical datasets. Traditional machine learning models struggle with class imbalance, leading to inaccurate predictions, especially false negatives. Existing approaches also fail to capture complex relationships in clinical data and often lack reliability and real-world applicability. Additionally, deep learning methods require large datasets and high computational resources, making them less practical in many healthcare settings.</a:t>
            </a:r>
            <a:endParaRPr lang="en-US" dirty="0">
              <a:latin typeface="Times New Roman" panose="02020603050405020304" pitchFamily="18" charset="0"/>
              <a:cs typeface="Times New Roman" panose="02020603050405020304" pitchFamily="18" charset="0"/>
            </a:endParaRPr>
          </a:p>
          <a:p>
            <a:pPr marL="0" indent="0">
              <a:lnSpc>
                <a:spcPct val="150000"/>
              </a:lnSpc>
              <a:buNone/>
            </a:pP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116" y="148815"/>
            <a:ext cx="10515600" cy="1325563"/>
          </a:xfrm>
        </p:spPr>
        <p:txBody>
          <a:bodyPr>
            <a:normAutofit/>
          </a:bodyPr>
          <a:lstStyle/>
          <a:p>
            <a:r>
              <a:rPr lang="en-US" sz="4800" b="1" dirty="0">
                <a:solidFill>
                  <a:srgbClr val="FF0000"/>
                </a:solidFill>
                <a:latin typeface="Times New Roman" panose="02020603050405020304" pitchFamily="18" charset="0"/>
                <a:cs typeface="Times New Roman" panose="02020603050405020304" pitchFamily="18" charset="0"/>
              </a:rPr>
              <a:t>Objective </a:t>
            </a:r>
            <a:endParaRPr lang="en-IN" sz="4800" b="1" dirty="0">
              <a:solidFill>
                <a:srgbClr val="FF0000"/>
              </a:solidFill>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1116" y="547546"/>
            <a:ext cx="11798710" cy="54736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250000"/>
              </a:lnSpc>
              <a:spcBef>
                <a:spcPct val="0"/>
              </a:spcBef>
              <a:spcAft>
                <a:spcPct val="0"/>
              </a:spcAft>
              <a:buClrTx/>
              <a:buSzTx/>
              <a:buFontTx/>
              <a:buNone/>
            </a:pP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50000"/>
              </a:lnSpc>
              <a:spcBef>
                <a:spcPct val="0"/>
              </a:spcBef>
              <a:spcAft>
                <a:spcPct val="0"/>
              </a:spcAft>
              <a:buClrTx/>
              <a:buSzTx/>
              <a:buFontTx/>
              <a:buChar char="•"/>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To improve early-stage lung cancer prediction accuracy </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50000"/>
              </a:lnSpc>
              <a:spcBef>
                <a:spcPct val="0"/>
              </a:spcBef>
              <a:spcAft>
                <a:spcPct val="0"/>
              </a:spcAft>
              <a:buClrTx/>
              <a:buSzTx/>
              <a:buFontTx/>
              <a:buChar char="•"/>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To handle data imbalance using synthetic data generation (CTGAN) </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50000"/>
              </a:lnSpc>
              <a:spcBef>
                <a:spcPct val="0"/>
              </a:spcBef>
              <a:spcAft>
                <a:spcPct val="0"/>
              </a:spcAft>
              <a:buClrTx/>
              <a:buSzTx/>
              <a:buFontTx/>
              <a:buChar char="•"/>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To develop a robust predictive model using ensemble techniques </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50000"/>
              </a:lnSpc>
              <a:spcBef>
                <a:spcPct val="0"/>
              </a:spcBef>
              <a:spcAft>
                <a:spcPct val="0"/>
              </a:spcAft>
              <a:buClrTx/>
              <a:buSzTx/>
              <a:buFontTx/>
              <a:buChar char="•"/>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To enhance model interpretability for better clinical understanding </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250000"/>
              </a:lnSpc>
              <a:spcBef>
                <a:spcPct val="0"/>
              </a:spcBef>
              <a:spcAft>
                <a:spcPct val="0"/>
              </a:spcAft>
              <a:buClrTx/>
              <a:buSzTx/>
              <a:buFontTx/>
              <a:buChar char="•"/>
            </a:pPr>
            <a:r>
              <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rPr>
              <a:t> To reduce false negatives and improve diagnostic reliability </a:t>
            </a:r>
            <a:endParaRPr kumimoji="0" lang="en-US" altLang="en-US" sz="24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5095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Scope of  the Work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376516"/>
            <a:ext cx="12192000" cy="4866968"/>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This work focuses on developing an AI-based predictive system for early detection of lung cancer using clinical tabular data. It integrates data preprocessing, </a:t>
            </a:r>
            <a:r>
              <a:rPr lang="en-US" dirty="0">
                <a:solidFill>
                  <a:srgbClr val="0070C0"/>
                </a:solidFill>
                <a:latin typeface="Times New Roman" panose="02020603050405020304" pitchFamily="18" charset="0"/>
                <a:cs typeface="Times New Roman" panose="02020603050405020304" pitchFamily="18" charset="0"/>
              </a:rPr>
              <a:t>synthetic data generation</a:t>
            </a:r>
            <a:r>
              <a:rPr lang="en-US" dirty="0">
                <a:latin typeface="Times New Roman" panose="02020603050405020304" pitchFamily="18" charset="0"/>
                <a:cs typeface="Times New Roman" panose="02020603050405020304" pitchFamily="18" charset="0"/>
              </a:rPr>
              <a:t>, and </a:t>
            </a:r>
            <a:r>
              <a:rPr lang="en-US" dirty="0">
                <a:solidFill>
                  <a:srgbClr val="0070C0"/>
                </a:solidFill>
                <a:latin typeface="Times New Roman" panose="02020603050405020304" pitchFamily="18" charset="0"/>
                <a:cs typeface="Times New Roman" panose="02020603050405020304" pitchFamily="18" charset="0"/>
              </a:rPr>
              <a:t>ensemble learning </a:t>
            </a:r>
            <a:r>
              <a:rPr lang="en-US" dirty="0">
                <a:latin typeface="Times New Roman" panose="02020603050405020304" pitchFamily="18" charset="0"/>
                <a:cs typeface="Times New Roman" panose="02020603050405020304" pitchFamily="18" charset="0"/>
              </a:rPr>
              <a:t>models to improve prediction performance. The system is designed to assist clinicians by providing accurate risk predictions along with interpretable insights. It can be extended to real-time clinical applications and further enhanced by integrating imaging data and advanced deep learning techniques in future.</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829"/>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Proposed Architecture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 y="1170039"/>
            <a:ext cx="12081387" cy="5558809"/>
          </a:xfrm>
        </p:spPr>
        <p:txBody>
          <a:bodyPr>
            <a:normAutofit fontScale="70000" lnSpcReduction="20000"/>
          </a:bodyPr>
          <a:lstStyle/>
          <a:p>
            <a:pPr marL="0" lvl="0" indent="0" algn="just" eaLnBrk="0" fontAlgn="base" hangingPunct="0">
              <a:lnSpc>
                <a:spcPct val="250000"/>
              </a:lnSpc>
              <a:spcBef>
                <a:spcPct val="0"/>
              </a:spcBef>
              <a:spcAft>
                <a:spcPct val="0"/>
              </a:spcAft>
              <a:buNone/>
            </a:pPr>
            <a:r>
              <a:rPr lang="en-US" dirty="0">
                <a:latin typeface="Times New Roman" panose="02020603050405020304" pitchFamily="18" charset="0"/>
                <a:cs typeface="Times New Roman" panose="02020603050405020304" pitchFamily="18" charset="0"/>
              </a:rPr>
              <a:t>	The proposed framework leverages </a:t>
            </a:r>
            <a:r>
              <a:rPr lang="en-US" b="1" dirty="0">
                <a:solidFill>
                  <a:srgbClr val="0070C0"/>
                </a:solidFill>
                <a:latin typeface="Times New Roman" panose="02020603050405020304" pitchFamily="18" charset="0"/>
                <a:cs typeface="Times New Roman" panose="02020603050405020304" pitchFamily="18" charset="0"/>
              </a:rPr>
              <a:t>Conditional Tabular Generative Adversarial Networks (CTGAN)</a:t>
            </a:r>
            <a:r>
              <a:rPr lang="en-US" dirty="0">
                <a:latin typeface="Times New Roman" panose="02020603050405020304" pitchFamily="18" charset="0"/>
                <a:cs typeface="Times New Roman" panose="02020603050405020304" pitchFamily="18" charset="0"/>
              </a:rPr>
              <a:t> to generate high-quality synthetic clinical data, effectively addressing the issue of </a:t>
            </a:r>
            <a:r>
              <a:rPr lang="en-US" b="1" dirty="0">
                <a:solidFill>
                  <a:srgbClr val="0070C0"/>
                </a:solidFill>
                <a:latin typeface="Times New Roman" panose="02020603050405020304" pitchFamily="18" charset="0"/>
                <a:cs typeface="Times New Roman" panose="02020603050405020304" pitchFamily="18" charset="0"/>
              </a:rPr>
              <a:t>class imbalance</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lung cancer datasets. By producing realistic cancer and non-cancer samples, the model enhances dataset diversity while preserving </a:t>
            </a:r>
            <a:r>
              <a:rPr lang="en-US" b="1" dirty="0">
                <a:solidFill>
                  <a:srgbClr val="0070C0"/>
                </a:solidFill>
                <a:latin typeface="Times New Roman" panose="02020603050405020304" pitchFamily="18" charset="0"/>
                <a:cs typeface="Times New Roman" panose="02020603050405020304" pitchFamily="18" charset="0"/>
              </a:rPr>
              <a:t>complex relationships between clinical and demographic features</a:t>
            </a:r>
            <a:r>
              <a:rPr lang="en-US" dirty="0">
                <a:solidFill>
                  <a:srgbClr val="0070C0"/>
                </a:solidFill>
                <a:latin typeface="Times New Roman" panose="02020603050405020304" pitchFamily="18" charset="0"/>
                <a:cs typeface="Times New Roman" panose="02020603050405020304" pitchFamily="18" charset="0"/>
              </a:rPr>
              <a:t>.</a:t>
            </a:r>
            <a:endParaRPr lang="en-US" altLang="en-US" dirty="0">
              <a:solidFill>
                <a:srgbClr val="0070C0"/>
              </a:solidFill>
              <a:latin typeface="Times New Roman" panose="02020603050405020304" pitchFamily="18" charset="0"/>
              <a:cs typeface="Times New Roman" panose="02020603050405020304" pitchFamily="18" charset="0"/>
            </a:endParaRPr>
          </a:p>
          <a:p>
            <a:pPr marL="0" lvl="0" indent="0" algn="just" eaLnBrk="0" fontAlgn="base" hangingPunct="0">
              <a:lnSpc>
                <a:spcPct val="250000"/>
              </a:lnSpc>
              <a:spcBef>
                <a:spcPct val="0"/>
              </a:spcBef>
              <a:spcAft>
                <a:spcPct val="0"/>
              </a:spcAft>
              <a:buNone/>
            </a:pPr>
            <a:r>
              <a:rPr lang="en-US" dirty="0">
                <a:latin typeface="Times New Roman" panose="02020603050405020304" pitchFamily="18" charset="0"/>
                <a:cs typeface="Times New Roman" panose="02020603050405020304" pitchFamily="18" charset="0"/>
              </a:rPr>
              <a:t>	The enhanced dataset is then utilized by </a:t>
            </a:r>
            <a:r>
              <a:rPr lang="en-US" b="1" dirty="0">
                <a:solidFill>
                  <a:srgbClr val="0070C0"/>
                </a:solidFill>
                <a:latin typeface="Times New Roman" panose="02020603050405020304" pitchFamily="18" charset="0"/>
                <a:cs typeface="Times New Roman" panose="02020603050405020304" pitchFamily="18" charset="0"/>
              </a:rPr>
              <a:t>tree-based machine learning models</a:t>
            </a:r>
            <a:r>
              <a:rPr lang="en-US" dirty="0">
                <a:latin typeface="Times New Roman" panose="02020603050405020304" pitchFamily="18" charset="0"/>
                <a:cs typeface="Times New Roman" panose="02020603050405020304" pitchFamily="18" charset="0"/>
              </a:rPr>
              <a:t>, including </a:t>
            </a:r>
            <a:r>
              <a:rPr lang="en-US" b="1" dirty="0">
                <a:solidFill>
                  <a:srgbClr val="0070C0"/>
                </a:solidFill>
                <a:latin typeface="Times New Roman" panose="02020603050405020304" pitchFamily="18" charset="0"/>
                <a:cs typeface="Times New Roman" panose="02020603050405020304" pitchFamily="18" charset="0"/>
              </a:rPr>
              <a:t>Random Forest and ensemble techniques</a:t>
            </a:r>
            <a:r>
              <a:rPr lang="en-US" dirty="0">
                <a:latin typeface="Times New Roman" panose="02020603050405020304" pitchFamily="18" charset="0"/>
                <a:cs typeface="Times New Roman" panose="02020603050405020304" pitchFamily="18" charset="0"/>
              </a:rPr>
              <a:t>, to perform accurate classification. By integrating </a:t>
            </a:r>
            <a:r>
              <a:rPr lang="en-US" b="1" dirty="0">
                <a:solidFill>
                  <a:srgbClr val="0070C0"/>
                </a:solidFill>
                <a:latin typeface="Times New Roman" panose="02020603050405020304" pitchFamily="18" charset="0"/>
                <a:cs typeface="Times New Roman" panose="02020603050405020304" pitchFamily="18" charset="0"/>
              </a:rPr>
              <a:t>generative modeling with predictive analytics</a:t>
            </a:r>
            <a:r>
              <a:rPr lang="en-US" dirty="0">
                <a:solidFill>
                  <a:srgbClr val="0070C0"/>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 system improves generalization, reduces overfitting, and delivers more stable performance. </a:t>
            </a:r>
            <a:endParaRPr lang="en-US" altLang="en-US" dirty="0">
              <a:latin typeface="Times New Roman" panose="02020603050405020304" pitchFamily="18" charset="0"/>
            </a:endParaRPr>
          </a:p>
          <a:p>
            <a:pPr marL="0" indent="0">
              <a:buNone/>
            </a:pPr>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149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Architecture of Lung Cancer Diagnosis</a:t>
            </a:r>
            <a:endParaRPr lang="en-IN" b="1" dirty="0">
              <a:solidFill>
                <a:srgbClr val="FF0000"/>
              </a:solidFill>
              <a:latin typeface="Times New Roman" panose="02020603050405020304" pitchFamily="18" charset="0"/>
              <a:cs typeface="Times New Roman" panose="02020603050405020304" pitchFamily="18" charset="0"/>
            </a:endParaRPr>
          </a:p>
        </p:txBody>
      </p:sp>
      <p:pic>
        <p:nvPicPr>
          <p:cNvPr id="4" name="Content Placeholder 8"/>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335525" y="1074560"/>
            <a:ext cx="11049000" cy="5269226"/>
          </a:xfrm>
        </p:spPr>
      </p:pic>
      <p:sp>
        <p:nvSpPr>
          <p:cNvPr id="5" name="TextBox 4"/>
          <p:cNvSpPr txBox="1"/>
          <p:nvPr/>
        </p:nvSpPr>
        <p:spPr>
          <a:xfrm>
            <a:off x="2792361" y="6351638"/>
            <a:ext cx="6135329" cy="646331"/>
          </a:xfrm>
          <a:prstGeom prst="rect">
            <a:avLst/>
          </a:prstGeom>
          <a:noFill/>
        </p:spPr>
        <p:txBody>
          <a:bodyPr wrap="square" rtlCol="0">
            <a:spAutoFit/>
          </a:bodyPr>
          <a:lstStyle/>
          <a:p>
            <a:r>
              <a:rPr lang="en-US" b="1" dirty="0"/>
              <a:t>Fig 3: Architecture of the working Model of CTGAN </a:t>
            </a:r>
            <a:endParaRPr lang="en-US" b="1" dirty="0"/>
          </a:p>
          <a:p>
            <a:endParaRPr lang="en-IN" b="1" dirty="0"/>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265" y="286467"/>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Advantages of Proposed System </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1613" y="1514168"/>
            <a:ext cx="11582400" cy="4984955"/>
          </a:xfrm>
        </p:spPr>
        <p:txBody>
          <a:bodyPr>
            <a:normAutofit fontScale="92500" lnSpcReduction="10000"/>
          </a:bodyPr>
          <a:lstStyle/>
          <a:p>
            <a:pPr lvl="0" eaLnBrk="0" fontAlgn="base" hangingPunct="0">
              <a:lnSpc>
                <a:spcPct val="250000"/>
              </a:lnSpc>
              <a:spcBef>
                <a:spcPct val="0"/>
              </a:spcBef>
              <a:spcAft>
                <a:spcPct val="0"/>
              </a:spcAft>
              <a:buFont typeface="Wingdings" panose="05000000000000000000" pitchFamily="2" charset="2"/>
              <a:buChar char="§"/>
            </a:pPr>
            <a:r>
              <a:rPr lang="en-US" altLang="en-US" dirty="0">
                <a:latin typeface="Times New Roman" panose="02020603050405020304" pitchFamily="18" charset="0"/>
              </a:rPr>
              <a:t>Improves </a:t>
            </a:r>
            <a:r>
              <a:rPr lang="en-US" altLang="en-US" dirty="0">
                <a:latin typeface="Times New Roman" panose="02020603050405020304" pitchFamily="18" charset="0"/>
              </a:rPr>
              <a:t> </a:t>
            </a:r>
            <a:r>
              <a:rPr lang="en-US" altLang="en-US" dirty="0">
                <a:latin typeface="Times New Roman" panose="02020603050405020304" pitchFamily="18" charset="0"/>
              </a:rPr>
              <a:t>prediction </a:t>
            </a:r>
            <a:r>
              <a:rPr lang="en-US" altLang="en-US" dirty="0">
                <a:latin typeface="Times New Roman" panose="02020603050405020304" pitchFamily="18" charset="0"/>
              </a:rPr>
              <a:t> </a:t>
            </a:r>
            <a:r>
              <a:rPr lang="en-US" altLang="en-US" dirty="0">
                <a:latin typeface="Times New Roman" panose="02020603050405020304" pitchFamily="18" charset="0"/>
              </a:rPr>
              <a:t>accuracy </a:t>
            </a:r>
            <a:r>
              <a:rPr lang="en-US" altLang="en-US" dirty="0">
                <a:latin typeface="Times New Roman" panose="02020603050405020304" pitchFamily="18" charset="0"/>
              </a:rPr>
              <a:t> </a:t>
            </a:r>
            <a:r>
              <a:rPr lang="en-US" altLang="en-US" dirty="0">
                <a:latin typeface="Times New Roman" panose="02020603050405020304" pitchFamily="18" charset="0"/>
              </a:rPr>
              <a:t>compared </a:t>
            </a:r>
            <a:r>
              <a:rPr lang="en-US" altLang="en-US" dirty="0">
                <a:latin typeface="Times New Roman" panose="02020603050405020304" pitchFamily="18" charset="0"/>
              </a:rPr>
              <a:t> </a:t>
            </a:r>
            <a:r>
              <a:rPr lang="en-US" altLang="en-US" dirty="0">
                <a:latin typeface="Times New Roman" panose="02020603050405020304" pitchFamily="18" charset="0"/>
              </a:rPr>
              <a:t>to </a:t>
            </a:r>
            <a:r>
              <a:rPr lang="en-US" altLang="en-US" dirty="0">
                <a:latin typeface="Times New Roman" panose="02020603050405020304" pitchFamily="18" charset="0"/>
              </a:rPr>
              <a:t> </a:t>
            </a:r>
            <a:r>
              <a:rPr lang="en-US" altLang="en-US" dirty="0">
                <a:latin typeface="Times New Roman" panose="02020603050405020304" pitchFamily="18" charset="0"/>
              </a:rPr>
              <a:t>traditional </a:t>
            </a:r>
            <a:r>
              <a:rPr lang="en-US" altLang="en-US" dirty="0">
                <a:latin typeface="Times New Roman" panose="02020603050405020304" pitchFamily="18" charset="0"/>
              </a:rPr>
              <a:t> </a:t>
            </a:r>
            <a:r>
              <a:rPr lang="en-US" altLang="en-US" dirty="0">
                <a:latin typeface="Times New Roman" panose="02020603050405020304" pitchFamily="18" charset="0"/>
              </a:rPr>
              <a:t>methods.</a:t>
            </a:r>
            <a:endParaRPr lang="en-US" altLang="en-US" dirty="0">
              <a:latin typeface="Times New Roman" panose="02020603050405020304" pitchFamily="18" charset="0"/>
            </a:endParaRPr>
          </a:p>
          <a:p>
            <a:pPr lvl="0" eaLnBrk="0" fontAlgn="base" hangingPunct="0">
              <a:lnSpc>
                <a:spcPct val="250000"/>
              </a:lnSpc>
              <a:spcBef>
                <a:spcPct val="0"/>
              </a:spcBef>
              <a:spcAft>
                <a:spcPct val="0"/>
              </a:spcAft>
              <a:buFont typeface="Wingdings" panose="05000000000000000000" pitchFamily="2" charset="2"/>
              <a:buChar char="§"/>
            </a:pPr>
            <a:r>
              <a:rPr lang="en-US" altLang="en-US" dirty="0">
                <a:latin typeface="Times New Roman" panose="02020603050405020304" pitchFamily="18" charset="0"/>
              </a:rPr>
              <a:t> </a:t>
            </a:r>
            <a:r>
              <a:rPr lang="en-US" altLang="en-US" dirty="0">
                <a:latin typeface="Times New Roman" panose="02020603050405020304" pitchFamily="18" charset="0"/>
              </a:rPr>
              <a:t>Reduces </a:t>
            </a:r>
            <a:r>
              <a:rPr lang="en-US" altLang="en-US" dirty="0">
                <a:latin typeface="Times New Roman" panose="02020603050405020304" pitchFamily="18" charset="0"/>
              </a:rPr>
              <a:t> </a:t>
            </a:r>
            <a:r>
              <a:rPr lang="en-US" altLang="en-US" dirty="0">
                <a:latin typeface="Times New Roman" panose="02020603050405020304" pitchFamily="18" charset="0"/>
              </a:rPr>
              <a:t>false-negative </a:t>
            </a:r>
            <a:r>
              <a:rPr lang="en-US" altLang="en-US" dirty="0">
                <a:latin typeface="Times New Roman" panose="02020603050405020304" pitchFamily="18" charset="0"/>
              </a:rPr>
              <a:t> </a:t>
            </a:r>
            <a:r>
              <a:rPr lang="en-US" altLang="en-US" dirty="0">
                <a:latin typeface="Times New Roman" panose="02020603050405020304" pitchFamily="18" charset="0"/>
              </a:rPr>
              <a:t>rates </a:t>
            </a:r>
            <a:r>
              <a:rPr lang="en-US" altLang="en-US" dirty="0">
                <a:latin typeface="Times New Roman" panose="02020603050405020304" pitchFamily="18" charset="0"/>
              </a:rPr>
              <a:t> </a:t>
            </a:r>
            <a:r>
              <a:rPr lang="en-US" altLang="en-US" dirty="0">
                <a:latin typeface="Times New Roman" panose="02020603050405020304" pitchFamily="18" charset="0"/>
              </a:rPr>
              <a:t>and </a:t>
            </a:r>
            <a:r>
              <a:rPr lang="en-US" altLang="en-US" dirty="0">
                <a:latin typeface="Times New Roman" panose="02020603050405020304" pitchFamily="18" charset="0"/>
              </a:rPr>
              <a:t> </a:t>
            </a:r>
            <a:r>
              <a:rPr lang="en-US" altLang="en-US" dirty="0">
                <a:latin typeface="Times New Roman" panose="02020603050405020304" pitchFamily="18" charset="0"/>
              </a:rPr>
              <a:t>increases </a:t>
            </a:r>
            <a:r>
              <a:rPr lang="en-US" altLang="en-US" dirty="0">
                <a:latin typeface="Times New Roman" panose="02020603050405020304" pitchFamily="18" charset="0"/>
              </a:rPr>
              <a:t> </a:t>
            </a:r>
            <a:r>
              <a:rPr lang="en-US" altLang="en-US" dirty="0">
                <a:latin typeface="Times New Roman" panose="02020603050405020304" pitchFamily="18" charset="0"/>
              </a:rPr>
              <a:t>sensitivity.</a:t>
            </a:r>
            <a:endParaRPr lang="en-US" altLang="en-US" dirty="0">
              <a:latin typeface="Times New Roman" panose="02020603050405020304" pitchFamily="18" charset="0"/>
            </a:endParaRPr>
          </a:p>
          <a:p>
            <a:pPr lvl="0" eaLnBrk="0" fontAlgn="base" hangingPunct="0">
              <a:lnSpc>
                <a:spcPct val="250000"/>
              </a:lnSpc>
              <a:spcBef>
                <a:spcPct val="0"/>
              </a:spcBef>
              <a:spcAft>
                <a:spcPct val="0"/>
              </a:spcAft>
              <a:buFont typeface="Wingdings" panose="05000000000000000000" pitchFamily="2" charset="2"/>
              <a:buChar char="§"/>
            </a:pPr>
            <a:r>
              <a:rPr lang="en-US" altLang="en-US" dirty="0">
                <a:latin typeface="Times New Roman" panose="02020603050405020304" pitchFamily="18" charset="0"/>
              </a:rPr>
              <a:t> </a:t>
            </a:r>
            <a:r>
              <a:rPr lang="en-US" altLang="en-US" dirty="0">
                <a:latin typeface="Times New Roman" panose="02020603050405020304" pitchFamily="18" charset="0"/>
              </a:rPr>
              <a:t>Effectively </a:t>
            </a:r>
            <a:r>
              <a:rPr lang="en-US" altLang="en-US" dirty="0">
                <a:latin typeface="Times New Roman" panose="02020603050405020304" pitchFamily="18" charset="0"/>
              </a:rPr>
              <a:t> </a:t>
            </a:r>
            <a:r>
              <a:rPr lang="en-US" altLang="en-US" dirty="0">
                <a:latin typeface="Times New Roman" panose="02020603050405020304" pitchFamily="18" charset="0"/>
              </a:rPr>
              <a:t>handles </a:t>
            </a:r>
            <a:r>
              <a:rPr lang="en-US" altLang="en-US" dirty="0">
                <a:latin typeface="Times New Roman" panose="02020603050405020304" pitchFamily="18" charset="0"/>
              </a:rPr>
              <a:t> </a:t>
            </a:r>
            <a:r>
              <a:rPr lang="en-US" altLang="en-US" dirty="0">
                <a:latin typeface="Times New Roman" panose="02020603050405020304" pitchFamily="18" charset="0"/>
              </a:rPr>
              <a:t>imbalanced </a:t>
            </a:r>
            <a:r>
              <a:rPr lang="en-US" altLang="en-US" dirty="0">
                <a:latin typeface="Times New Roman" panose="02020603050405020304" pitchFamily="18" charset="0"/>
              </a:rPr>
              <a:t> </a:t>
            </a:r>
            <a:r>
              <a:rPr lang="en-US" altLang="en-US" dirty="0">
                <a:latin typeface="Times New Roman" panose="02020603050405020304" pitchFamily="18" charset="0"/>
              </a:rPr>
              <a:t>medical </a:t>
            </a:r>
            <a:r>
              <a:rPr lang="en-US" altLang="en-US" dirty="0">
                <a:latin typeface="Times New Roman" panose="02020603050405020304" pitchFamily="18" charset="0"/>
              </a:rPr>
              <a:t> </a:t>
            </a:r>
            <a:r>
              <a:rPr lang="en-US" altLang="en-US" dirty="0">
                <a:latin typeface="Times New Roman" panose="02020603050405020304" pitchFamily="18" charset="0"/>
              </a:rPr>
              <a:t>datasets.</a:t>
            </a:r>
            <a:endParaRPr lang="en-US" altLang="en-US" dirty="0">
              <a:latin typeface="Times New Roman" panose="02020603050405020304" pitchFamily="18" charset="0"/>
            </a:endParaRPr>
          </a:p>
          <a:p>
            <a:pPr lvl="0" eaLnBrk="0" fontAlgn="base" hangingPunct="0">
              <a:lnSpc>
                <a:spcPct val="250000"/>
              </a:lnSpc>
              <a:spcBef>
                <a:spcPct val="0"/>
              </a:spcBef>
              <a:spcAft>
                <a:spcPct val="0"/>
              </a:spcAft>
              <a:buFont typeface="Wingdings" panose="05000000000000000000" pitchFamily="2" charset="2"/>
              <a:buChar char="§"/>
            </a:pPr>
            <a:r>
              <a:rPr lang="en-US" altLang="en-US" dirty="0">
                <a:latin typeface="Times New Roman" panose="02020603050405020304" pitchFamily="18" charset="0"/>
              </a:rPr>
              <a:t> </a:t>
            </a:r>
            <a:r>
              <a:rPr lang="en-US" altLang="en-US" dirty="0">
                <a:latin typeface="Times New Roman" panose="02020603050405020304" pitchFamily="18" charset="0"/>
              </a:rPr>
              <a:t>Generates </a:t>
            </a:r>
            <a:r>
              <a:rPr lang="en-US" altLang="en-US" dirty="0">
                <a:latin typeface="Times New Roman" panose="02020603050405020304" pitchFamily="18" charset="0"/>
              </a:rPr>
              <a:t> </a:t>
            </a:r>
            <a:r>
              <a:rPr lang="en-US" altLang="en-US" dirty="0">
                <a:latin typeface="Times New Roman" panose="02020603050405020304" pitchFamily="18" charset="0"/>
              </a:rPr>
              <a:t>realistic </a:t>
            </a:r>
            <a:r>
              <a:rPr lang="en-US" altLang="en-US" dirty="0">
                <a:latin typeface="Times New Roman" panose="02020603050405020304" pitchFamily="18" charset="0"/>
              </a:rPr>
              <a:t> </a:t>
            </a:r>
            <a:r>
              <a:rPr lang="en-US" altLang="en-US" dirty="0">
                <a:latin typeface="Times New Roman" panose="02020603050405020304" pitchFamily="18" charset="0"/>
              </a:rPr>
              <a:t>synthetic </a:t>
            </a:r>
            <a:r>
              <a:rPr lang="en-US" altLang="en-US" dirty="0">
                <a:latin typeface="Times New Roman" panose="02020603050405020304" pitchFamily="18" charset="0"/>
              </a:rPr>
              <a:t> </a:t>
            </a:r>
            <a:r>
              <a:rPr lang="en-US" altLang="en-US" dirty="0">
                <a:latin typeface="Times New Roman" panose="02020603050405020304" pitchFamily="18" charset="0"/>
              </a:rPr>
              <a:t>data </a:t>
            </a:r>
            <a:r>
              <a:rPr lang="en-US" altLang="en-US" dirty="0">
                <a:latin typeface="Times New Roman" panose="02020603050405020304" pitchFamily="18" charset="0"/>
              </a:rPr>
              <a:t> </a:t>
            </a:r>
            <a:r>
              <a:rPr lang="en-US" altLang="en-US" dirty="0">
                <a:latin typeface="Times New Roman" panose="02020603050405020304" pitchFamily="18" charset="0"/>
              </a:rPr>
              <a:t>while </a:t>
            </a:r>
            <a:r>
              <a:rPr lang="en-US" altLang="en-US" dirty="0">
                <a:latin typeface="Times New Roman" panose="02020603050405020304" pitchFamily="18" charset="0"/>
              </a:rPr>
              <a:t> </a:t>
            </a:r>
            <a:r>
              <a:rPr lang="en-US" altLang="en-US" dirty="0">
                <a:latin typeface="Times New Roman" panose="02020603050405020304" pitchFamily="18" charset="0"/>
              </a:rPr>
              <a:t>maintaining </a:t>
            </a:r>
            <a:r>
              <a:rPr lang="en-US" altLang="en-US" dirty="0">
                <a:latin typeface="Times New Roman" panose="02020603050405020304" pitchFamily="18" charset="0"/>
              </a:rPr>
              <a:t> </a:t>
            </a:r>
            <a:r>
              <a:rPr lang="en-US" altLang="en-US" dirty="0">
                <a:latin typeface="Times New Roman" panose="02020603050405020304" pitchFamily="18" charset="0"/>
              </a:rPr>
              <a:t>feature </a:t>
            </a:r>
            <a:r>
              <a:rPr lang="en-US" altLang="en-US" dirty="0">
                <a:latin typeface="Times New Roman" panose="02020603050405020304" pitchFamily="18" charset="0"/>
              </a:rPr>
              <a:t> </a:t>
            </a:r>
            <a:r>
              <a:rPr lang="en-US" altLang="en-US" dirty="0">
                <a:latin typeface="Times New Roman" panose="02020603050405020304" pitchFamily="18" charset="0"/>
              </a:rPr>
              <a:t>dependencies.</a:t>
            </a:r>
            <a:endParaRPr lang="en-US" altLang="en-US" dirty="0">
              <a:latin typeface="Times New Roman" panose="02020603050405020304" pitchFamily="18" charset="0"/>
            </a:endParaRPr>
          </a:p>
          <a:p>
            <a:pPr lvl="0" eaLnBrk="0" fontAlgn="base" hangingPunct="0">
              <a:lnSpc>
                <a:spcPct val="250000"/>
              </a:lnSpc>
              <a:spcBef>
                <a:spcPct val="0"/>
              </a:spcBef>
              <a:spcAft>
                <a:spcPct val="0"/>
              </a:spcAft>
              <a:buFont typeface="Wingdings" panose="05000000000000000000" pitchFamily="2" charset="2"/>
              <a:buChar char="§"/>
            </a:pPr>
            <a:r>
              <a:rPr lang="en-US" altLang="en-US" dirty="0">
                <a:latin typeface="Times New Roman" panose="02020603050405020304" pitchFamily="18" charset="0"/>
              </a:rPr>
              <a:t> </a:t>
            </a:r>
            <a:r>
              <a:rPr lang="en-US" altLang="en-US" dirty="0">
                <a:latin typeface="Times New Roman" panose="02020603050405020304" pitchFamily="18" charset="0"/>
              </a:rPr>
              <a:t>Enhances </a:t>
            </a:r>
            <a:r>
              <a:rPr lang="en-US" altLang="en-US" dirty="0">
                <a:latin typeface="Times New Roman" panose="02020603050405020304" pitchFamily="18" charset="0"/>
              </a:rPr>
              <a:t> </a:t>
            </a:r>
            <a:r>
              <a:rPr lang="en-US" altLang="en-US" dirty="0">
                <a:latin typeface="Times New Roman" panose="02020603050405020304" pitchFamily="18" charset="0"/>
              </a:rPr>
              <a:t>robustness </a:t>
            </a:r>
            <a:r>
              <a:rPr lang="en-US" altLang="en-US" dirty="0">
                <a:latin typeface="Times New Roman" panose="02020603050405020304" pitchFamily="18" charset="0"/>
              </a:rPr>
              <a:t> </a:t>
            </a:r>
            <a:r>
              <a:rPr lang="en-US" altLang="en-US" dirty="0">
                <a:latin typeface="Times New Roman" panose="02020603050405020304" pitchFamily="18" charset="0"/>
              </a:rPr>
              <a:t>and </a:t>
            </a:r>
            <a:r>
              <a:rPr lang="en-US" altLang="en-US" dirty="0">
                <a:latin typeface="Times New Roman" panose="02020603050405020304" pitchFamily="18" charset="0"/>
              </a:rPr>
              <a:t> </a:t>
            </a:r>
            <a:r>
              <a:rPr lang="en-US" altLang="en-US" dirty="0">
                <a:latin typeface="Times New Roman" panose="02020603050405020304" pitchFamily="18" charset="0"/>
              </a:rPr>
              <a:t>generalization </a:t>
            </a:r>
            <a:r>
              <a:rPr lang="en-US" altLang="en-US" dirty="0">
                <a:latin typeface="Times New Roman" panose="02020603050405020304" pitchFamily="18" charset="0"/>
              </a:rPr>
              <a:t> </a:t>
            </a:r>
            <a:r>
              <a:rPr lang="en-US" altLang="en-US" dirty="0">
                <a:latin typeface="Times New Roman" panose="02020603050405020304" pitchFamily="18" charset="0"/>
              </a:rPr>
              <a:t>on </a:t>
            </a:r>
            <a:r>
              <a:rPr lang="en-US" altLang="en-US" dirty="0">
                <a:latin typeface="Times New Roman" panose="02020603050405020304" pitchFamily="18" charset="0"/>
              </a:rPr>
              <a:t> </a:t>
            </a:r>
            <a:r>
              <a:rPr lang="en-US" altLang="en-US" dirty="0">
                <a:latin typeface="Times New Roman" panose="02020603050405020304" pitchFamily="18" charset="0"/>
              </a:rPr>
              <a:t>unseen </a:t>
            </a:r>
            <a:r>
              <a:rPr lang="en-US" altLang="en-US" dirty="0">
                <a:latin typeface="Times New Roman" panose="02020603050405020304" pitchFamily="18" charset="0"/>
              </a:rPr>
              <a:t> </a:t>
            </a:r>
            <a:r>
              <a:rPr lang="en-US" altLang="en-US" dirty="0">
                <a:latin typeface="Times New Roman" panose="02020603050405020304" pitchFamily="18" charset="0"/>
              </a:rPr>
              <a:t>data.</a:t>
            </a:r>
            <a:endParaRPr lang="en-US" altLang="en-US" dirty="0">
              <a:latin typeface="Times New Roman" panose="02020603050405020304" pitchFamily="18" charset="0"/>
            </a:endParaRPr>
          </a:p>
          <a:p>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64626" y="-126029"/>
            <a:ext cx="10515600" cy="1325563"/>
          </a:xfrm>
        </p:spPr>
        <p:txBody>
          <a:bodyPr/>
          <a:lstStyle/>
          <a:p>
            <a:r>
              <a:rPr lang="en-US" noProof="0" dirty="0">
                <a:solidFill>
                  <a:srgbClr val="FF0000"/>
                </a:solidFill>
                <a:latin typeface="Times New Roman" panose="02020603050405020304" pitchFamily="18" charset="0"/>
                <a:cs typeface="Times New Roman" panose="02020603050405020304" pitchFamily="18" charset="0"/>
              </a:rPr>
              <a:t>CTGAN</a:t>
            </a:r>
            <a:endParaRPr lang="en-US" noProof="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120876"/>
            <a:ext cx="12368981" cy="5600599"/>
          </a:xfrm>
        </p:spPr>
        <p:txBody>
          <a:bodyPr>
            <a:normAutofit fontScale="77500" lnSpcReduction="20000"/>
          </a:bodyPr>
          <a:lstStyle/>
          <a:p>
            <a:pPr marL="0" lvl="0" indent="0">
              <a:lnSpc>
                <a:spcPct val="150000"/>
              </a:lnSpc>
              <a:buNone/>
            </a:pPr>
            <a:r>
              <a:rPr lang="en-US" b="1" noProof="0" dirty="0">
                <a:solidFill>
                  <a:srgbClr val="0070C0"/>
                </a:solidFill>
                <a:latin typeface="Times New Roman" panose="02020603050405020304" pitchFamily="18" charset="0"/>
                <a:cs typeface="Times New Roman" panose="02020603050405020304" pitchFamily="18" charset="0"/>
              </a:rPr>
              <a:t>Conditional Tabular Generative Adversarial Networks (CTGAN)</a:t>
            </a: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 are specifically designed for tabular medical data.</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lvl="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CTGAN can:</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0" indent="-45720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Handle mixed data types</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0" indent="-45720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Preserve feature dependencies</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0" indent="-45720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Generate class-conditioned synthetic samples</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lvl="0" indent="0">
              <a:lnSpc>
                <a:spcPct val="150000"/>
              </a:lnSpc>
              <a:buNone/>
            </a:pPr>
            <a:r>
              <a:rPr lang="en-US" b="1" noProof="0" dirty="0">
                <a:solidFill>
                  <a:schemeClr val="tx1">
                    <a:lumMod val="95000"/>
                    <a:lumOff val="5000"/>
                  </a:schemeClr>
                </a:solidFill>
                <a:latin typeface="Times New Roman" panose="02020603050405020304" pitchFamily="18" charset="0"/>
                <a:cs typeface="Times New Roman" panose="02020603050405020304" pitchFamily="18" charset="0"/>
              </a:rPr>
              <a:t>Generative-Enhanced Predictive Modeling framework</a:t>
            </a: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0" indent="-45720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Uses CTGAN for synthetic data generation</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0" indent="-45720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Applies tree-based machine learning algorithms for classification</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pPr marL="457200" lvl="0" indent="-457200">
              <a:lnSpc>
                <a:spcPct val="150000"/>
              </a:lnSpc>
            </a:pPr>
            <a:r>
              <a:rPr lang="en-US" noProof="0" dirty="0">
                <a:solidFill>
                  <a:schemeClr val="tx1">
                    <a:lumMod val="95000"/>
                    <a:lumOff val="5000"/>
                  </a:schemeClr>
                </a:solidFill>
                <a:latin typeface="Times New Roman" panose="02020603050405020304" pitchFamily="18" charset="0"/>
                <a:cs typeface="Times New Roman" panose="02020603050405020304" pitchFamily="18" charset="0"/>
              </a:rPr>
              <a:t>The integration of generative modeling with predictive modeling</a:t>
            </a:r>
            <a:endParaRPr lang="en-US" noProof="0" dirty="0">
              <a:solidFill>
                <a:schemeClr val="tx1">
                  <a:lumMod val="95000"/>
                  <a:lumOff val="5000"/>
                </a:schemeClr>
              </a:solidFill>
              <a:latin typeface="Times New Roman" panose="02020603050405020304" pitchFamily="18" charset="0"/>
              <a:cs typeface="Times New Roman" panose="02020603050405020304" pitchFamily="18" charset="0"/>
            </a:endParaRPr>
          </a:p>
          <a:p>
            <a:endParaRPr lang="en-US" noProof="0" dirty="0">
              <a:solidFill>
                <a:schemeClr val="tx1">
                  <a:lumMod val="95000"/>
                  <a:lumOff val="5000"/>
                </a:schemeClr>
              </a:solidFill>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B1413A-8296-4DAD-99D1-781DA3BE2BEF}" type="slidenum">
              <a:rPr lang="en-US" noProof="0" smtClean="0"/>
            </a:fld>
            <a:endParaRPr lang="en-US"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pic>
        <p:nvPicPr>
          <p:cNvPr id="4" name="Content Placeholder 3"/>
          <p:cNvPicPr>
            <a:picLocks noGrp="1" noChangeAspect="1"/>
          </p:cNvPicPr>
          <p:nvPr>
            <p:ph idx="1"/>
          </p:nvPr>
        </p:nvPicPr>
        <p:blipFill>
          <a:blip r:embed="rId1">
            <a:extLst>
              <a:ext uri="{28A0092B-C50C-407E-A947-70E740481C1C}">
                <a14:useLocalDpi xmlns:a14="http://schemas.microsoft.com/office/drawing/2010/main" val="0"/>
              </a:ext>
            </a:extLst>
          </a:blip>
          <a:srcRect t="16210" b="21875"/>
          <a:stretch>
            <a:fillRect/>
          </a:stretch>
        </p:blipFill>
        <p:spPr>
          <a:xfrm>
            <a:off x="739877" y="798664"/>
            <a:ext cx="10928104" cy="4510756"/>
          </a:xfrm>
          <a:prstGeom prst="rect">
            <a:avLst/>
          </a:prstGeom>
        </p:spPr>
      </p:pic>
      <p:sp>
        <p:nvSpPr>
          <p:cNvPr id="5" name="TextBox 4"/>
          <p:cNvSpPr txBox="1"/>
          <p:nvPr/>
        </p:nvSpPr>
        <p:spPr>
          <a:xfrm>
            <a:off x="3156156" y="5496232"/>
            <a:ext cx="768882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Fig 4 : Implementation Method of Lung Cancer Diagnosis</a:t>
            </a:r>
            <a:endParaRPr lang="en-IN" b="1" dirty="0">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84" y="-112176"/>
            <a:ext cx="10515600" cy="1325563"/>
          </a:xfrm>
        </p:spPr>
        <p:txBody>
          <a:bodyPr/>
          <a:lstStyle/>
          <a:p>
            <a:r>
              <a:rPr lang="en-US" dirty="0">
                <a:solidFill>
                  <a:srgbClr val="FF0000"/>
                </a:solidFill>
                <a:latin typeface="Times New Roman" panose="02020603050405020304" pitchFamily="18" charset="0"/>
                <a:cs typeface="Times New Roman" panose="02020603050405020304" pitchFamily="18" charset="0"/>
              </a:rPr>
              <a:t>System Requirements</a:t>
            </a:r>
            <a:endParaRPr lang="en-IN"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1284" y="550606"/>
            <a:ext cx="12120716" cy="6307394"/>
          </a:xfrm>
        </p:spPr>
        <p:txBody>
          <a:bodyPr>
            <a:normAutofit fontScale="77500" lnSpcReduction="20000"/>
          </a:bodyPr>
          <a:lstStyle/>
          <a:p>
            <a:pPr marL="0" indent="0">
              <a:lnSpc>
                <a:spcPct val="160000"/>
              </a:lnSpc>
              <a:buNone/>
            </a:pPr>
            <a:endParaRPr lang="en-IN" b="1" dirty="0"/>
          </a:p>
          <a:p>
            <a:pPr marL="0" indent="0">
              <a:lnSpc>
                <a:spcPct val="160000"/>
              </a:lnSpc>
              <a:buNone/>
            </a:pPr>
            <a:r>
              <a:rPr lang="en-IN" b="1" dirty="0"/>
              <a:t>Hardware Requirements:</a:t>
            </a:r>
            <a:endParaRPr lang="en-IN" dirty="0"/>
          </a:p>
          <a:p>
            <a:pPr>
              <a:lnSpc>
                <a:spcPct val="160000"/>
              </a:lnSpc>
            </a:pPr>
            <a:r>
              <a:rPr lang="en-IN" dirty="0"/>
              <a:t>Processor: Intel i5 or higher </a:t>
            </a:r>
            <a:endParaRPr lang="en-IN" dirty="0"/>
          </a:p>
          <a:p>
            <a:pPr>
              <a:lnSpc>
                <a:spcPct val="160000"/>
              </a:lnSpc>
            </a:pPr>
            <a:r>
              <a:rPr lang="en-IN" dirty="0"/>
              <a:t>RAM: Minimum 8 GB (16 GB recommended) </a:t>
            </a:r>
            <a:endParaRPr lang="en-IN" dirty="0"/>
          </a:p>
          <a:p>
            <a:pPr>
              <a:lnSpc>
                <a:spcPct val="160000"/>
              </a:lnSpc>
            </a:pPr>
            <a:r>
              <a:rPr lang="en-IN" dirty="0"/>
              <a:t>Storage: At least 256 GB </a:t>
            </a:r>
            <a:endParaRPr lang="en-IN" dirty="0"/>
          </a:p>
          <a:p>
            <a:pPr marL="0" indent="0">
              <a:lnSpc>
                <a:spcPct val="160000"/>
              </a:lnSpc>
              <a:buNone/>
            </a:pPr>
            <a:r>
              <a:rPr lang="en-IN" b="1" dirty="0"/>
              <a:t>Software Requirements:</a:t>
            </a:r>
            <a:endParaRPr lang="en-IN" dirty="0"/>
          </a:p>
          <a:p>
            <a:pPr>
              <a:lnSpc>
                <a:spcPct val="160000"/>
              </a:lnSpc>
            </a:pPr>
            <a:r>
              <a:rPr lang="en-IN" dirty="0"/>
              <a:t>Programming Language: Python 3.x </a:t>
            </a:r>
            <a:endParaRPr lang="en-IN" dirty="0"/>
          </a:p>
          <a:p>
            <a:pPr>
              <a:lnSpc>
                <a:spcPct val="160000"/>
              </a:lnSpc>
            </a:pPr>
            <a:r>
              <a:rPr lang="en-IN" dirty="0"/>
              <a:t>Libraries: Scikit-learn, Pandas, NumPy, CTGAN </a:t>
            </a:r>
            <a:endParaRPr lang="en-IN" dirty="0"/>
          </a:p>
          <a:p>
            <a:pPr>
              <a:lnSpc>
                <a:spcPct val="160000"/>
              </a:lnSpc>
            </a:pPr>
            <a:r>
              <a:rPr lang="en-IN" dirty="0"/>
              <a:t>Frameworks: Flask (for deployment) </a:t>
            </a:r>
            <a:endParaRPr lang="en-IN" dirty="0"/>
          </a:p>
          <a:p>
            <a:pPr>
              <a:lnSpc>
                <a:spcPct val="160000"/>
              </a:lnSpc>
            </a:pPr>
            <a:r>
              <a:rPr lang="en-IN" dirty="0"/>
              <a:t>OS: Windows/Linux/Mac</a:t>
            </a:r>
            <a:endParaRPr lang="en-IN" dirty="0"/>
          </a:p>
          <a:p>
            <a:pPr>
              <a:lnSpc>
                <a:spcPct val="160000"/>
              </a:lnSpc>
            </a:pPr>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9942" y="60785"/>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Results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386348"/>
            <a:ext cx="12192000" cy="5471652"/>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The proposed model combining </a:t>
            </a:r>
            <a:r>
              <a:rPr lang="en-US" dirty="0">
                <a:solidFill>
                  <a:srgbClr val="0070C0"/>
                </a:solidFill>
                <a:latin typeface="Times New Roman" panose="02020603050405020304" pitchFamily="18" charset="0"/>
                <a:cs typeface="Times New Roman" panose="02020603050405020304" pitchFamily="18" charset="0"/>
              </a:rPr>
              <a:t>CTGAN</a:t>
            </a:r>
            <a:r>
              <a:rPr lang="en-US" dirty="0">
                <a:latin typeface="Times New Roman" panose="02020603050405020304" pitchFamily="18" charset="0"/>
                <a:cs typeface="Times New Roman" panose="02020603050405020304" pitchFamily="18" charset="0"/>
              </a:rPr>
              <a:t> with ensemble learning achieved high performance in lung cancer prediction. The system showed improvements in accuracy, precision, recall, and F1-score compared to traditional models. Data augmentation using </a:t>
            </a:r>
            <a:r>
              <a:rPr lang="en-US" dirty="0">
                <a:solidFill>
                  <a:srgbClr val="0070C0"/>
                </a:solidFill>
                <a:latin typeface="Times New Roman" panose="02020603050405020304" pitchFamily="18" charset="0"/>
                <a:cs typeface="Times New Roman" panose="02020603050405020304" pitchFamily="18" charset="0"/>
              </a:rPr>
              <a:t>CTGAN</a:t>
            </a:r>
            <a:r>
              <a:rPr lang="en-US" dirty="0">
                <a:latin typeface="Times New Roman" panose="02020603050405020304" pitchFamily="18" charset="0"/>
                <a:cs typeface="Times New Roman" panose="02020603050405020304" pitchFamily="18" charset="0"/>
              </a:rPr>
              <a:t> effectively handled class imbalance, leading to better identification of high-risk patients. The model also demonstrated reliable and consistent performance across multiple test runs.</a:t>
            </a:r>
            <a:endParaRPr lang="en-IN"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Conclusion</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0" y="1238864"/>
            <a:ext cx="12192000" cy="5619135"/>
          </a:xfrm>
        </p:spPr>
        <p:txBody>
          <a:bodyPr>
            <a:normAutofit/>
          </a:bodyPr>
          <a:lstStyle/>
          <a:p>
            <a:pPr marL="0" indent="0">
              <a:lnSpc>
                <a:spcPct val="150000"/>
              </a:lnSpc>
              <a:buNone/>
            </a:pPr>
            <a:r>
              <a:rPr lang="en-US" dirty="0">
                <a:latin typeface="Times New Roman" panose="02020603050405020304" pitchFamily="18" charset="0"/>
                <a:cs typeface="Times New Roman" panose="02020603050405020304" pitchFamily="18" charset="0"/>
              </a:rPr>
              <a:t>	It focuses on the seamless integration and performance optimization of </a:t>
            </a:r>
            <a:r>
              <a:rPr lang="en-US" dirty="0">
                <a:solidFill>
                  <a:srgbClr val="0070C0"/>
                </a:solidFill>
                <a:latin typeface="Times New Roman" panose="02020603050405020304" pitchFamily="18" charset="0"/>
                <a:cs typeface="Times New Roman" panose="02020603050405020304" pitchFamily="18" charset="0"/>
              </a:rPr>
              <a:t>CTGAN and Random Forest models</a:t>
            </a:r>
            <a:r>
              <a:rPr lang="en-US" dirty="0">
                <a:latin typeface="Times New Roman" panose="02020603050405020304" pitchFamily="18" charset="0"/>
                <a:cs typeface="Times New Roman" panose="02020603050405020304" pitchFamily="18" charset="0"/>
              </a:rPr>
              <a:t> for early-stage lung cancer detection. By combining </a:t>
            </a:r>
            <a:r>
              <a:rPr lang="en-US" dirty="0">
                <a:solidFill>
                  <a:srgbClr val="0070C0"/>
                </a:solidFill>
                <a:latin typeface="Times New Roman" panose="02020603050405020304" pitchFamily="18" charset="0"/>
                <a:cs typeface="Times New Roman" panose="02020603050405020304" pitchFamily="18" charset="0"/>
              </a:rPr>
              <a:t>Conditional Tabular Generative Adversarial Networks (CTGAN) </a:t>
            </a:r>
            <a:r>
              <a:rPr lang="en-US" dirty="0">
                <a:latin typeface="Times New Roman" panose="02020603050405020304" pitchFamily="18" charset="0"/>
                <a:cs typeface="Times New Roman" panose="02020603050405020304" pitchFamily="18" charset="0"/>
              </a:rPr>
              <a:t>for realistic synthetic data generation with a Random Forest classifier for robust decision-making, the framework improves data balance, strengthens feature learning, and enhances early detection performance. </a:t>
            </a:r>
            <a:r>
              <a:rPr lang="en-US" dirty="0"/>
              <a:t>This plays a vital role in increasing overall survival rates among individuals diagnosed with lung cancer.</a:t>
            </a: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813" y="-17027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References</a:t>
            </a: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4413" y="1012723"/>
            <a:ext cx="12123174" cy="5708752"/>
          </a:xfrm>
        </p:spPr>
        <p:txBody>
          <a:bodyPr>
            <a:noAutofit/>
          </a:bodyPr>
          <a:lstStyle/>
          <a:p>
            <a:pPr marL="355600" indent="-355600">
              <a:lnSpc>
                <a:spcPct val="120000"/>
              </a:lnSpc>
              <a:buNone/>
            </a:pPr>
            <a:r>
              <a:rPr lang="en-IN" sz="1800" dirty="0">
                <a:latin typeface="Times New Roman" panose="02020603050405020304" pitchFamily="18" charset="0"/>
                <a:cs typeface="Times New Roman" panose="02020603050405020304" pitchFamily="18" charset="0"/>
              </a:rPr>
              <a:t>[1] M. </a:t>
            </a:r>
            <a:r>
              <a:rPr lang="en-IN" sz="1800" dirty="0" err="1">
                <a:latin typeface="Times New Roman" panose="02020603050405020304" pitchFamily="18" charset="0"/>
                <a:cs typeface="Times New Roman" panose="02020603050405020304" pitchFamily="18" charset="0"/>
              </a:rPr>
              <a:t>Aharonu</a:t>
            </a:r>
            <a:r>
              <a:rPr lang="en-IN" sz="1800" dirty="0">
                <a:latin typeface="Times New Roman" panose="02020603050405020304" pitchFamily="18" charset="0"/>
                <a:cs typeface="Times New Roman" panose="02020603050405020304" pitchFamily="18" charset="0"/>
              </a:rPr>
              <a:t> and L. Ramasamy, ‘‘A multi-model deep learning framework and algorithms for survival rate prediction of lung cancer subtypes with region of interest using histopathology imagery,’’ IEEE Access, 2024,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10.1109/ACCESS.2024.3484495.</a:t>
            </a:r>
            <a:endParaRPr lang="en-IN" sz="1800" dirty="0">
              <a:latin typeface="Times New Roman" panose="02020603050405020304" pitchFamily="18" charset="0"/>
              <a:cs typeface="Times New Roman" panose="02020603050405020304" pitchFamily="18" charset="0"/>
            </a:endParaRPr>
          </a:p>
          <a:p>
            <a:pPr marL="355600" indent="-355600">
              <a:lnSpc>
                <a:spcPct val="120000"/>
              </a:lnSpc>
              <a:buNone/>
            </a:pPr>
            <a:r>
              <a:rPr lang="en-IN" sz="1800" dirty="0">
                <a:latin typeface="Times New Roman" panose="02020603050405020304" pitchFamily="18" charset="0"/>
                <a:cs typeface="Times New Roman" panose="02020603050405020304" pitchFamily="18" charset="0"/>
              </a:rPr>
              <a:t>[2] X. Ye, W. Zhang, and T. Sakurai, ‘‘Adaptive unsupervised feature learning for gene signature identification in non-small-cell   lung cancer,’’ IEEE Access, vol. 8, pp. 154354–154361, 2020,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10.1109/ACCESS.2020.3018480.</a:t>
            </a:r>
            <a:endParaRPr lang="en-IN" sz="1800" dirty="0">
              <a:latin typeface="Times New Roman" panose="02020603050405020304" pitchFamily="18" charset="0"/>
              <a:cs typeface="Times New Roman" panose="02020603050405020304" pitchFamily="18" charset="0"/>
            </a:endParaRPr>
          </a:p>
          <a:p>
            <a:pPr marL="355600" indent="-355600">
              <a:lnSpc>
                <a:spcPct val="120000"/>
              </a:lnSpc>
              <a:buNone/>
            </a:pPr>
            <a:r>
              <a:rPr lang="en-IN" sz="1800" dirty="0">
                <a:latin typeface="Times New Roman" panose="02020603050405020304" pitchFamily="18" charset="0"/>
                <a:cs typeface="Times New Roman" panose="02020603050405020304" pitchFamily="18" charset="0"/>
              </a:rPr>
              <a:t>[3] L. Hussain, W. Aziz, A. A. </a:t>
            </a:r>
            <a:r>
              <a:rPr lang="en-IN" sz="1800" dirty="0" err="1">
                <a:latin typeface="Times New Roman" panose="02020603050405020304" pitchFamily="18" charset="0"/>
                <a:cs typeface="Times New Roman" panose="02020603050405020304" pitchFamily="18" charset="0"/>
              </a:rPr>
              <a:t>Alshdadi</a:t>
            </a:r>
            <a:r>
              <a:rPr lang="en-IN" sz="1800" dirty="0">
                <a:latin typeface="Times New Roman" panose="02020603050405020304" pitchFamily="18" charset="0"/>
                <a:cs typeface="Times New Roman" panose="02020603050405020304" pitchFamily="18" charset="0"/>
              </a:rPr>
              <a:t>, M. S. A. Nadeem, I. R. Khan, and Q.-U.-A. Chaudhry, ‘‘</a:t>
            </a:r>
            <a:r>
              <a:rPr lang="en-IN" sz="1800" dirty="0" err="1">
                <a:latin typeface="Times New Roman" panose="02020603050405020304" pitchFamily="18" charset="0"/>
                <a:cs typeface="Times New Roman" panose="02020603050405020304" pitchFamily="18" charset="0"/>
              </a:rPr>
              <a:t>Analyzing</a:t>
            </a:r>
            <a:r>
              <a:rPr lang="en-IN" sz="1800" dirty="0">
                <a:latin typeface="Times New Roman" panose="02020603050405020304" pitchFamily="18" charset="0"/>
                <a:cs typeface="Times New Roman" panose="02020603050405020304" pitchFamily="18" charset="0"/>
              </a:rPr>
              <a:t> the dynamics of lung cancer imaging data using refined fuzzy entropy methods by extracting different features,’’ IEEE Access, vol. 7, 2019,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10.1109/ACCESS.2019.2917303.</a:t>
            </a:r>
            <a:endParaRPr lang="en-IN" sz="1800" dirty="0">
              <a:latin typeface="Times New Roman" panose="02020603050405020304" pitchFamily="18" charset="0"/>
              <a:cs typeface="Times New Roman" panose="02020603050405020304" pitchFamily="18" charset="0"/>
            </a:endParaRPr>
          </a:p>
          <a:p>
            <a:pPr marL="355600" indent="-355600">
              <a:lnSpc>
                <a:spcPct val="120000"/>
              </a:lnSpc>
              <a:buNone/>
              <a:tabLst>
                <a:tab pos="537845" algn="l"/>
              </a:tabLst>
            </a:pPr>
            <a:r>
              <a:rPr lang="en-IN" sz="1800" dirty="0">
                <a:latin typeface="Times New Roman" panose="02020603050405020304" pitchFamily="18" charset="0"/>
                <a:cs typeface="Times New Roman" panose="02020603050405020304" pitchFamily="18" charset="0"/>
              </a:rPr>
              <a:t>[4] B. Ozdemir, E. Aslan, and I. Pacal, ‘‘Attention enhanced </a:t>
            </a:r>
            <a:r>
              <a:rPr lang="en-IN" sz="1800" dirty="0" err="1">
                <a:latin typeface="Times New Roman" panose="02020603050405020304" pitchFamily="18" charset="0"/>
                <a:cs typeface="Times New Roman" panose="02020603050405020304" pitchFamily="18" charset="0"/>
              </a:rPr>
              <a:t>InceptionNeXt</a:t>
            </a:r>
            <a:r>
              <a:rPr lang="en-IN" sz="1800" dirty="0">
                <a:latin typeface="Times New Roman" panose="02020603050405020304" pitchFamily="18" charset="0"/>
                <a:cs typeface="Times New Roman" panose="02020603050405020304" pitchFamily="18" charset="0"/>
              </a:rPr>
              <a:t>-based hybrid deep learning model for lung cancer                 detection,’’ IEEE Access, vol. 13, pp. 27051–27067, 2025,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10.1109/ACCESS.2025.3539122.</a:t>
            </a:r>
            <a:endParaRPr lang="en-IN" sz="1800" dirty="0">
              <a:latin typeface="Times New Roman" panose="02020603050405020304" pitchFamily="18" charset="0"/>
              <a:cs typeface="Times New Roman" panose="02020603050405020304" pitchFamily="18" charset="0"/>
            </a:endParaRPr>
          </a:p>
          <a:p>
            <a:pPr marL="355600" indent="-355600">
              <a:lnSpc>
                <a:spcPct val="120000"/>
              </a:lnSpc>
              <a:buNone/>
              <a:tabLst>
                <a:tab pos="537845" algn="l"/>
              </a:tabLst>
            </a:pPr>
            <a:r>
              <a:rPr lang="en-IN" sz="1800" dirty="0">
                <a:latin typeface="Times New Roman" panose="02020603050405020304" pitchFamily="18" charset="0"/>
                <a:cs typeface="Times New Roman" panose="02020603050405020304" pitchFamily="18" charset="0"/>
              </a:rPr>
              <a:t>[5] A. Teramoto, H. Fujita, T. Yamada, and H. Kato, ‘‘Deep learning methods for lung cancer segmentation in whole-slide    histopathology images—The </a:t>
            </a:r>
            <a:r>
              <a:rPr lang="en-IN" sz="1800" dirty="0" err="1">
                <a:latin typeface="Times New Roman" panose="02020603050405020304" pitchFamily="18" charset="0"/>
                <a:cs typeface="Times New Roman" panose="02020603050405020304" pitchFamily="18" charset="0"/>
              </a:rPr>
              <a:t>ACDC@LungHP</a:t>
            </a:r>
            <a:r>
              <a:rPr lang="en-IN" sz="1800" dirty="0">
                <a:latin typeface="Times New Roman" panose="02020603050405020304" pitchFamily="18" charset="0"/>
                <a:cs typeface="Times New Roman" panose="02020603050405020304" pitchFamily="18" charset="0"/>
              </a:rPr>
              <a:t> Challenge 2019,’’ IEEE Access, vol. 7, pp. 115543–115552, 2019,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10.1109/ACCESS.2019.2936414.</a:t>
            </a:r>
            <a:endParaRPr lang="en-IN" sz="1800" dirty="0">
              <a:latin typeface="Times New Roman" panose="02020603050405020304" pitchFamily="18" charset="0"/>
              <a:cs typeface="Times New Roman" panose="02020603050405020304" pitchFamily="18" charset="0"/>
            </a:endParaRPr>
          </a:p>
          <a:p>
            <a:pPr marL="355600" indent="-355600">
              <a:lnSpc>
                <a:spcPct val="120000"/>
              </a:lnSpc>
              <a:buNone/>
            </a:pPr>
            <a:r>
              <a:rPr lang="en-IN" sz="1800" dirty="0">
                <a:latin typeface="Times New Roman" panose="02020603050405020304" pitchFamily="18" charset="0"/>
                <a:cs typeface="Times New Roman" panose="02020603050405020304" pitchFamily="18" charset="0"/>
              </a:rPr>
              <a:t>[6] A. Teramoto, H. Fujita, T. Yamada, and H. Kato, ‘‘End-to-end fully automated lung cancer screening system,’’ IEEE Trans. Med. </a:t>
            </a:r>
            <a:r>
              <a:rPr lang="en-IN" sz="1800" dirty="0" err="1">
                <a:latin typeface="Times New Roman" panose="02020603050405020304" pitchFamily="18" charset="0"/>
                <a:cs typeface="Times New Roman" panose="02020603050405020304" pitchFamily="18" charset="0"/>
              </a:rPr>
              <a:t>Imag</a:t>
            </a:r>
            <a:r>
              <a:rPr lang="en-IN" sz="1800" dirty="0">
                <a:latin typeface="Times New Roman" panose="02020603050405020304" pitchFamily="18" charset="0"/>
                <a:cs typeface="Times New Roman" panose="02020603050405020304" pitchFamily="18" charset="0"/>
              </a:rPr>
              <a:t>., vol. 38, no. 12, pp. 2867–2877, Dec. 2019, </a:t>
            </a:r>
            <a:r>
              <a:rPr lang="en-IN" sz="1800" dirty="0" err="1">
                <a:latin typeface="Times New Roman" panose="02020603050405020304" pitchFamily="18" charset="0"/>
                <a:cs typeface="Times New Roman" panose="02020603050405020304" pitchFamily="18" charset="0"/>
              </a:rPr>
              <a:t>doi</a:t>
            </a:r>
            <a:r>
              <a:rPr lang="en-IN" sz="1800" dirty="0">
                <a:latin typeface="Times New Roman" panose="02020603050405020304" pitchFamily="18" charset="0"/>
                <a:cs typeface="Times New Roman" panose="02020603050405020304" pitchFamily="18" charset="0"/>
              </a:rPr>
              <a:t>: 10.1109/TMI.2019.2911339.</a:t>
            </a:r>
            <a:endParaRPr lang="en-IN" sz="1800" dirty="0">
              <a:latin typeface="Times New Roman" panose="02020603050405020304" pitchFamily="18" charset="0"/>
              <a:cs typeface="Times New Roman" panose="02020603050405020304" pitchFamily="18" charset="0"/>
            </a:endParaRPr>
          </a:p>
          <a:p>
            <a:pPr marL="355600" indent="-355600">
              <a:lnSpc>
                <a:spcPct val="120000"/>
              </a:lnSpc>
            </a:pPr>
            <a:endParaRPr lang="en-IN" sz="1800" dirty="0">
              <a:latin typeface="Times New Roman" panose="02020603050405020304" pitchFamily="18" charset="0"/>
              <a:cs typeface="Times New Roman" panose="02020603050405020304" pitchFamily="18" charset="0"/>
            </a:endParaRPr>
          </a:p>
          <a:p>
            <a:pPr>
              <a:lnSpc>
                <a:spcPct val="120000"/>
              </a:lnSpc>
            </a:pPr>
            <a:endParaRPr lang="en-IN" sz="1800" dirty="0">
              <a:latin typeface="Times New Roman" panose="02020603050405020304" pitchFamily="18" charset="0"/>
              <a:cs typeface="Times New Roman" panose="02020603050405020304" pitchFamily="18" charset="0"/>
            </a:endParaRPr>
          </a:p>
          <a:p>
            <a:pPr>
              <a:lnSpc>
                <a:spcPct val="120000"/>
              </a:lnSpc>
            </a:pPr>
            <a:endParaRPr lang="en-IN" sz="1800" dirty="0">
              <a:latin typeface="Times New Roman" panose="02020603050405020304" pitchFamily="18" charset="0"/>
              <a:cs typeface="Times New Roman" panose="02020603050405020304" pitchFamily="18" charset="0"/>
            </a:endParaRPr>
          </a:p>
          <a:p>
            <a:pPr>
              <a:lnSpc>
                <a:spcPct val="120000"/>
              </a:lnSpc>
            </a:pPr>
            <a:endParaRPr lang="en-IN" sz="1800" dirty="0">
              <a:latin typeface="Times New Roman" panose="02020603050405020304" pitchFamily="18" charset="0"/>
              <a:cs typeface="Times New Roman" panose="02020603050405020304" pitchFamily="18" charset="0"/>
            </a:endParaRPr>
          </a:p>
          <a:p>
            <a:pPr>
              <a:lnSpc>
                <a:spcPct val="120000"/>
              </a:lnSpc>
            </a:pPr>
            <a:endParaRPr lang="en-IN" sz="1800" dirty="0">
              <a:latin typeface="Times New Roman" panose="02020603050405020304" pitchFamily="18" charset="0"/>
              <a:cs typeface="Times New Roman" panose="02020603050405020304" pitchFamily="18" charset="0"/>
            </a:endParaRPr>
          </a:p>
          <a:p>
            <a:pPr>
              <a:lnSpc>
                <a:spcPct val="120000"/>
              </a:lnSpc>
            </a:pPr>
            <a:endParaRPr lang="en-IN" sz="1800" dirty="0">
              <a:latin typeface="Times New Roman" panose="02020603050405020304" pitchFamily="18" charset="0"/>
              <a:cs typeface="Times New Roman" panose="02020603050405020304" pitchFamily="18" charset="0"/>
            </a:endParaRPr>
          </a:p>
          <a:p>
            <a:pPr>
              <a:lnSpc>
                <a:spcPct val="120000"/>
              </a:lnSpc>
            </a:pPr>
            <a:endParaRPr lang="en-IN" sz="1800"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a:xfrm>
            <a:off x="66040" y="-112395"/>
            <a:ext cx="12059920" cy="6970395"/>
          </a:xfrm>
        </p:spPr>
        <p:txBody>
          <a:bodyPr>
            <a:noAutofit/>
          </a:bodyPr>
          <a:lstStyle/>
          <a:p>
            <a:pPr marL="355600" indent="-355600">
              <a:lnSpc>
                <a:spcPct val="150000"/>
              </a:lnSpc>
              <a:buNone/>
            </a:pPr>
            <a:r>
              <a:rPr lang="en-IN" sz="2000" dirty="0">
                <a:latin typeface="Times New Roman" panose="02020603050405020304" pitchFamily="18" charset="0"/>
                <a:cs typeface="Times New Roman" panose="02020603050405020304" pitchFamily="18" charset="0"/>
              </a:rPr>
              <a:t>[7] S. Doppalapudi, R. G. Qiu, and Y. Badr, “Lung cancer survival period prediction and understanding: Deep learning approaches,” Int. J. Med. </a:t>
            </a:r>
            <a:r>
              <a:rPr lang="en-IN" sz="2000" dirty="0" err="1">
                <a:latin typeface="Times New Roman" panose="02020603050405020304" pitchFamily="18" charset="0"/>
                <a:cs typeface="Times New Roman" panose="02020603050405020304" pitchFamily="18" charset="0"/>
              </a:rPr>
              <a:t>Informat</a:t>
            </a:r>
            <a:r>
              <a:rPr lang="en-IN" sz="2000" dirty="0">
                <a:latin typeface="Times New Roman" panose="02020603050405020304" pitchFamily="18" charset="0"/>
                <a:cs typeface="Times New Roman" panose="02020603050405020304" pitchFamily="18" charset="0"/>
              </a:rPr>
              <a:t>., vol. 148, Apr. 2021, Art. no. 104371,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10.1016/j.ijmedinf.2020.104371.</a:t>
            </a:r>
            <a:endParaRPr lang="en-IN" sz="2000" dirty="0">
              <a:latin typeface="Times New Roman" panose="02020603050405020304" pitchFamily="18" charset="0"/>
              <a:cs typeface="Times New Roman" panose="02020603050405020304" pitchFamily="18" charset="0"/>
            </a:endParaRPr>
          </a:p>
          <a:p>
            <a:pPr marL="447675" indent="-447675">
              <a:lnSpc>
                <a:spcPct val="150000"/>
              </a:lnSpc>
              <a:buNone/>
            </a:pPr>
            <a:r>
              <a:rPr lang="en-IN" sz="2000" dirty="0">
                <a:latin typeface="Times New Roman" panose="02020603050405020304" pitchFamily="18" charset="0"/>
                <a:cs typeface="Times New Roman" panose="02020603050405020304" pitchFamily="18" charset="0"/>
              </a:rPr>
              <a:t>[8] M. </a:t>
            </a:r>
            <a:r>
              <a:rPr lang="en-IN" sz="2000" dirty="0" err="1">
                <a:latin typeface="Times New Roman" panose="02020603050405020304" pitchFamily="18" charset="0"/>
                <a:cs typeface="Times New Roman" panose="02020603050405020304" pitchFamily="18" charset="0"/>
              </a:rPr>
              <a:t>Anthimopoulos</a:t>
            </a:r>
            <a:r>
              <a:rPr lang="en-IN" sz="2000" dirty="0">
                <a:latin typeface="Times New Roman" panose="02020603050405020304" pitchFamily="18" charset="0"/>
                <a:cs typeface="Times New Roman" panose="02020603050405020304" pitchFamily="18" charset="0"/>
              </a:rPr>
              <a:t>, S. </a:t>
            </a:r>
            <a:r>
              <a:rPr lang="en-IN" sz="2000" dirty="0" err="1">
                <a:latin typeface="Times New Roman" panose="02020603050405020304" pitchFamily="18" charset="0"/>
                <a:cs typeface="Times New Roman" panose="02020603050405020304" pitchFamily="18" charset="0"/>
              </a:rPr>
              <a:t>Christodoulidis</a:t>
            </a:r>
            <a:r>
              <a:rPr lang="en-IN" sz="2000" dirty="0">
                <a:latin typeface="Times New Roman" panose="02020603050405020304" pitchFamily="18" charset="0"/>
                <a:cs typeface="Times New Roman" panose="02020603050405020304" pitchFamily="18" charset="0"/>
              </a:rPr>
              <a:t>, L. Ebner, A. Christe, and S. </a:t>
            </a:r>
            <a:r>
              <a:rPr lang="en-IN" sz="2000" dirty="0" err="1">
                <a:latin typeface="Times New Roman" panose="02020603050405020304" pitchFamily="18" charset="0"/>
                <a:cs typeface="Times New Roman" panose="02020603050405020304" pitchFamily="18" charset="0"/>
              </a:rPr>
              <a:t>Mougiakakou</a:t>
            </a:r>
            <a:r>
              <a:rPr lang="en-IN" sz="2000" dirty="0">
                <a:latin typeface="Times New Roman" panose="02020603050405020304" pitchFamily="18" charset="0"/>
                <a:cs typeface="Times New Roman" panose="02020603050405020304" pitchFamily="18" charset="0"/>
              </a:rPr>
              <a:t>, “Lung pattern classification for interstitial lung diseases using a deep convolutional neural network,” IEEE Trans. Med. Imaging, vol. 35, no. 5, pp. 1207–1216, May 2016,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10.1109/TMI.2016.2535865.</a:t>
            </a:r>
            <a:endParaRPr lang="en-IN" sz="2000" dirty="0">
              <a:latin typeface="Times New Roman" panose="02020603050405020304" pitchFamily="18" charset="0"/>
              <a:cs typeface="Times New Roman" panose="02020603050405020304" pitchFamily="18" charset="0"/>
            </a:endParaRPr>
          </a:p>
          <a:p>
            <a:pPr marL="447675" indent="-447675">
              <a:lnSpc>
                <a:spcPct val="150000"/>
              </a:lnSpc>
              <a:buNone/>
            </a:pPr>
            <a:r>
              <a:rPr lang="en-IN" sz="2000" dirty="0">
                <a:latin typeface="Times New Roman" panose="02020603050405020304" pitchFamily="18" charset="0"/>
                <a:cs typeface="Times New Roman" panose="02020603050405020304" pitchFamily="18" charset="0"/>
              </a:rPr>
              <a:t>[9] W. Zhang, R. Li, H. Deng, L. Wang, W. Lin, S. Ji, and D. Shen, “Deep convolutional neural networks for multi-modality isointense infant brain image segmentation,” </a:t>
            </a:r>
            <a:r>
              <a:rPr lang="en-IN" sz="2000" dirty="0" err="1">
                <a:latin typeface="Times New Roman" panose="02020603050405020304" pitchFamily="18" charset="0"/>
                <a:cs typeface="Times New Roman" panose="02020603050405020304" pitchFamily="18" charset="0"/>
              </a:rPr>
              <a:t>NeuroImage</a:t>
            </a:r>
            <a:r>
              <a:rPr lang="en-IN" sz="2000" dirty="0">
                <a:latin typeface="Times New Roman" panose="02020603050405020304" pitchFamily="18" charset="0"/>
                <a:cs typeface="Times New Roman" panose="02020603050405020304" pitchFamily="18" charset="0"/>
              </a:rPr>
              <a:t>, vol. 108, pp. 214–224, Mar. 2015,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10.1016/j.neuroimage.2014.12.061.</a:t>
            </a:r>
            <a:endParaRPr lang="en-IN" sz="2000" dirty="0">
              <a:latin typeface="Times New Roman" panose="02020603050405020304" pitchFamily="18" charset="0"/>
              <a:cs typeface="Times New Roman" panose="02020603050405020304" pitchFamily="18" charset="0"/>
            </a:endParaRPr>
          </a:p>
          <a:p>
            <a:pPr marL="447675" indent="-447675">
              <a:lnSpc>
                <a:spcPct val="150000"/>
              </a:lnSpc>
              <a:buNone/>
            </a:pPr>
            <a:r>
              <a:rPr lang="en-IN" sz="2000" dirty="0">
                <a:latin typeface="Times New Roman" panose="02020603050405020304" pitchFamily="18" charset="0"/>
                <a:cs typeface="Times New Roman" panose="02020603050405020304" pitchFamily="18" charset="0"/>
              </a:rPr>
              <a:t>[10] N. Tajbakhsh et al., “Convolutional neural networks for medical image analysis: Full training or fine tuning?” IEEE Trans. Med. Imaging, vol. 35, no. 5, pp. 1299–1312, May 2016,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10.1109/TMI.2016.2535302.</a:t>
            </a:r>
            <a:endParaRPr lang="en-IN" sz="2000" dirty="0">
              <a:latin typeface="Times New Roman" panose="02020603050405020304" pitchFamily="18" charset="0"/>
              <a:cs typeface="Times New Roman" panose="02020603050405020304" pitchFamily="18" charset="0"/>
            </a:endParaRPr>
          </a:p>
          <a:p>
            <a:pPr marL="447675" indent="-447675">
              <a:lnSpc>
                <a:spcPct val="150000"/>
              </a:lnSpc>
              <a:buNone/>
            </a:pPr>
            <a:r>
              <a:rPr lang="en-IN" sz="2000" dirty="0">
                <a:latin typeface="Times New Roman" panose="02020603050405020304" pitchFamily="18" charset="0"/>
                <a:cs typeface="Times New Roman" panose="02020603050405020304" pitchFamily="18" charset="0"/>
              </a:rPr>
              <a:t>[11] K. He, X. Zhang, S. Ren, and J. Sun, “Deep residual learning for image recognition,” in Proc. IEEE Conf. </a:t>
            </a:r>
            <a:r>
              <a:rPr lang="en-IN" sz="2000" dirty="0" err="1">
                <a:latin typeface="Times New Roman" panose="02020603050405020304" pitchFamily="18" charset="0"/>
                <a:cs typeface="Times New Roman" panose="02020603050405020304" pitchFamily="18" charset="0"/>
              </a:rPr>
              <a:t>Comput</a:t>
            </a:r>
            <a:r>
              <a:rPr lang="en-IN" sz="2000" dirty="0">
                <a:latin typeface="Times New Roman" panose="02020603050405020304" pitchFamily="18" charset="0"/>
                <a:cs typeface="Times New Roman" panose="02020603050405020304" pitchFamily="18" charset="0"/>
              </a:rPr>
              <a:t>. Vis. Pattern </a:t>
            </a:r>
            <a:r>
              <a:rPr lang="en-IN" sz="2000" dirty="0" err="1">
                <a:latin typeface="Times New Roman" panose="02020603050405020304" pitchFamily="18" charset="0"/>
                <a:cs typeface="Times New Roman" panose="02020603050405020304" pitchFamily="18" charset="0"/>
              </a:rPr>
              <a:t>Recognit</a:t>
            </a:r>
            <a:r>
              <a:rPr lang="en-IN" sz="2000" dirty="0">
                <a:latin typeface="Times New Roman" panose="02020603050405020304" pitchFamily="18" charset="0"/>
                <a:cs typeface="Times New Roman" panose="02020603050405020304" pitchFamily="18" charset="0"/>
              </a:rPr>
              <a:t>. (CVPR), Las Vegas, NV, USA, Jun. 2016, pp. 770–778, </a:t>
            </a:r>
            <a:r>
              <a:rPr lang="en-IN" sz="2000" dirty="0" err="1">
                <a:latin typeface="Times New Roman" panose="02020603050405020304" pitchFamily="18" charset="0"/>
                <a:cs typeface="Times New Roman" panose="02020603050405020304" pitchFamily="18" charset="0"/>
              </a:rPr>
              <a:t>doi</a:t>
            </a:r>
            <a:r>
              <a:rPr lang="en-IN" sz="2000" dirty="0">
                <a:latin typeface="Times New Roman" panose="02020603050405020304" pitchFamily="18" charset="0"/>
                <a:cs typeface="Times New Roman" panose="02020603050405020304" pitchFamily="18" charset="0"/>
              </a:rPr>
              <a:t>: 10.1109/CVPR.2016.90.</a:t>
            </a:r>
            <a:endParaRPr lang="en-IN" sz="2000" dirty="0">
              <a:latin typeface="Times New Roman" panose="02020603050405020304" pitchFamily="18" charset="0"/>
              <a:cs typeface="Times New Roman" panose="02020603050405020304" pitchFamily="18" charset="0"/>
            </a:endParaRPr>
          </a:p>
          <a:p>
            <a:pPr>
              <a:lnSpc>
                <a:spcPct val="100000"/>
              </a:lnSpc>
            </a:pPr>
            <a:endParaRPr lang="en-IN" sz="2200" dirty="0">
              <a:latin typeface="Times New Roman" panose="02020603050405020304" pitchFamily="18" charset="0"/>
              <a:cs typeface="Times New Roman" panose="02020603050405020304" pitchFamily="18" charset="0"/>
            </a:endParaRPr>
          </a:p>
          <a:p>
            <a:pPr>
              <a:lnSpc>
                <a:spcPct val="100000"/>
              </a:lnSpc>
            </a:pPr>
            <a:endParaRPr lang="en-IN" sz="2200"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endParaRPr lang="en-IN" dirty="0"/>
          </a:p>
        </p:txBody>
      </p:sp>
      <p:sp>
        <p:nvSpPr>
          <p:cNvPr id="3" name="Content Placeholder 2"/>
          <p:cNvSpPr>
            <a:spLocks noGrp="1"/>
          </p:cNvSpPr>
          <p:nvPr>
            <p:ph idx="1"/>
          </p:nvPr>
        </p:nvSpPr>
        <p:spPr>
          <a:xfrm>
            <a:off x="1950720" y="689999"/>
            <a:ext cx="9909604" cy="4752156"/>
          </a:xfrm>
        </p:spPr>
        <p:txBody>
          <a:bodyPr/>
          <a:lstStyle/>
          <a:p>
            <a:pPr marL="0" indent="0">
              <a:buNone/>
            </a:pPr>
            <a:r>
              <a:rPr lang="en-US" sz="9600" b="1" dirty="0">
                <a:solidFill>
                  <a:srgbClr val="006747"/>
                </a:solidFill>
                <a:latin typeface="Noto Serif Bold"/>
                <a:ea typeface="Noto Serif Bold"/>
                <a:cs typeface="Noto Serif Bold"/>
                <a:sym typeface="Noto Serif Bold"/>
              </a:rPr>
              <a:t>       </a:t>
            </a:r>
            <a:endParaRPr lang="en-US" sz="9600" b="1" dirty="0">
              <a:solidFill>
                <a:srgbClr val="006747"/>
              </a:solidFill>
              <a:latin typeface="Noto Serif Bold"/>
              <a:ea typeface="Noto Serif Bold"/>
              <a:cs typeface="Noto Serif Bold"/>
              <a:sym typeface="Noto Serif Bold"/>
            </a:endParaRPr>
          </a:p>
          <a:p>
            <a:pPr marL="0" indent="0">
              <a:buNone/>
            </a:pPr>
            <a:r>
              <a:rPr lang="en-US" sz="9600" b="1" dirty="0">
                <a:solidFill>
                  <a:srgbClr val="006747"/>
                </a:solidFill>
                <a:latin typeface="Noto Serif Bold"/>
                <a:ea typeface="Noto Serif Bold"/>
                <a:cs typeface="Noto Serif Bold"/>
                <a:sym typeface="Noto Serif Bold"/>
              </a:rPr>
              <a:t>Thank You &amp;               any Queries</a:t>
            </a:r>
            <a:endParaRPr lang="en-US" sz="9600" b="1" dirty="0">
              <a:solidFill>
                <a:srgbClr val="006747"/>
              </a:solidFill>
              <a:latin typeface="Noto Serif Bold"/>
              <a:ea typeface="Noto Serif Bold"/>
              <a:cs typeface="Noto Serif Bold"/>
              <a:sym typeface="Noto Serif Bold"/>
            </a:endParaRPr>
          </a:p>
          <a:p>
            <a:pPr marL="0" indent="0">
              <a:buNone/>
            </a:pPr>
            <a:endParaRPr lang="en-IN" dirty="0"/>
          </a:p>
        </p:txBody>
      </p:sp>
      <p:sp>
        <p:nvSpPr>
          <p:cNvPr id="4" name="Slide Number Placeholder 3"/>
          <p:cNvSpPr>
            <a:spLocks noGrp="1"/>
          </p:cNvSpPr>
          <p:nvPr>
            <p:ph type="sldNum" sz="quarter" idx="12"/>
          </p:nvPr>
        </p:nvSpPr>
        <p:spPr/>
        <p:txBody>
          <a:bodyPr/>
          <a:lstStyle/>
          <a:p>
            <a:fld id="{CBB1413A-8296-4DAD-99D1-781DA3BE2BEF}" type="slidenum">
              <a:rPr lang="en-IN" smtClean="0"/>
            </a:fld>
            <a:endParaRPr lang="en-IN"/>
          </a:p>
        </p:txBody>
      </p:sp>
      <p:pic>
        <p:nvPicPr>
          <p:cNvPr id="5" name="Picture 4"/>
          <p:cNvPicPr>
            <a:picLocks noChangeAspect="1"/>
          </p:cNvPicPr>
          <p:nvPr/>
        </p:nvPicPr>
        <p:blipFill>
          <a:blip r:embed="rId1"/>
          <a:stretch>
            <a:fillRect/>
          </a:stretch>
        </p:blipFill>
        <p:spPr>
          <a:xfrm>
            <a:off x="8995410" y="277495"/>
            <a:ext cx="2865120" cy="1501140"/>
          </a:xfrm>
          <a:prstGeom prst="rect">
            <a:avLst/>
          </a:prstGeom>
        </p:spPr>
      </p:pic>
      <p:pic>
        <p:nvPicPr>
          <p:cNvPr id="6" name="Picture 5"/>
          <p:cNvPicPr>
            <a:picLocks noChangeAspect="1"/>
          </p:cNvPicPr>
          <p:nvPr/>
        </p:nvPicPr>
        <p:blipFill>
          <a:blip r:embed="rId2"/>
          <a:stretch>
            <a:fillRect/>
          </a:stretch>
        </p:blipFill>
        <p:spPr>
          <a:xfrm>
            <a:off x="398780" y="136525"/>
            <a:ext cx="1889760" cy="1783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10659</Words>
  <Application>WPS Presentation</Application>
  <PresentationFormat>Widescreen</PresentationFormat>
  <Paragraphs>290</Paragraphs>
  <Slides>23</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23</vt:i4>
      </vt:variant>
    </vt:vector>
  </HeadingPairs>
  <TitlesOfParts>
    <vt:vector size="34" baseType="lpstr">
      <vt:lpstr>Arial</vt:lpstr>
      <vt:lpstr>SimSun</vt:lpstr>
      <vt:lpstr>Wingdings</vt:lpstr>
      <vt:lpstr>Times New Roman</vt:lpstr>
      <vt:lpstr>Calibri</vt:lpstr>
      <vt:lpstr>Microsoft YaHei</vt:lpstr>
      <vt:lpstr>Arial Unicode MS</vt:lpstr>
      <vt:lpstr>Calibri Light</vt:lpstr>
      <vt:lpstr>Noto Serif Bold</vt:lpstr>
      <vt:lpstr>Segoe Print</vt:lpstr>
      <vt:lpstr>Office Theme</vt:lpstr>
      <vt:lpstr>3rd International Conference on Business Intelligence and Data Analytics (BIDA 2026)</vt:lpstr>
      <vt:lpstr>Contents :</vt:lpstr>
      <vt:lpstr>Abstract </vt:lpstr>
      <vt:lpstr>Introduction </vt:lpstr>
      <vt:lpstr>Types of Lung Cancer </vt:lpstr>
      <vt:lpstr> </vt:lpstr>
      <vt:lpstr>Lung Cancer Symptoms </vt:lpstr>
      <vt:lpstr>                          Literature Survey</vt:lpstr>
      <vt:lpstr>Existing System</vt:lpstr>
      <vt:lpstr>Problem Identification </vt:lpstr>
      <vt:lpstr>Objective </vt:lpstr>
      <vt:lpstr>Scope of  the Work </vt:lpstr>
      <vt:lpstr>Proposed Architecture </vt:lpstr>
      <vt:lpstr>Architecture of Lung Cancer Diagnosis</vt:lpstr>
      <vt:lpstr>Advantages of Proposed System </vt:lpstr>
      <vt:lpstr>CTGAN</vt:lpstr>
      <vt:lpstr> </vt:lpstr>
      <vt:lpstr>System Requirements</vt:lpstr>
      <vt:lpstr>Results</vt:lpstr>
      <vt:lpstr>Conclusion</vt:lpstr>
      <vt:lpstr>References</vt:lpstr>
      <vt:lpstr> </vt:lpstr>
      <vt:lpstr>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 Jaya Sree</dc:creator>
  <cp:lastModifiedBy>N MUNI BHARGAV</cp:lastModifiedBy>
  <cp:revision>2</cp:revision>
  <dcterms:created xsi:type="dcterms:W3CDTF">2026-04-01T05:14:00Z</dcterms:created>
  <dcterms:modified xsi:type="dcterms:W3CDTF">2026-04-12T03:07:48Z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384533CA612347F6A4C81DD6687378E4_13</vt:lpwstr>
  </property>
  <property fmtid="{D5CDD505-2E9C-101B-9397-08002B2CF9AE}" pid="3" name="KSOProductBuildVer">
    <vt:lpwstr>1033-12.2.0.23196</vt:lpwstr>
  </property>
</Properties>
</file>