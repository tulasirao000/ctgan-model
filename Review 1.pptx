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Arimo" panose="020B0604020202020204" charset="0"/>
      <p:regular r:id="rId13"/>
    </p:embeddedFont>
    <p:embeddedFont>
      <p:font typeface="Arimo Bold" panose="020B0604020202020204" charset="0"/>
      <p:regular r:id="rId14"/>
    </p:embeddedFont>
    <p:embeddedFont>
      <p:font typeface="Montserrat" panose="00000500000000000000" pitchFamily="2" charset="0"/>
      <p:regular r:id="rId15"/>
      <p:bold r:id="rId16"/>
      <p:italic r:id="rId17"/>
      <p:boldItalic r:id="rId18"/>
    </p:embeddedFont>
    <p:embeddedFont>
      <p:font typeface="Noto Serif Bold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006747"/>
    <a:srgbClr val="3A6D5D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37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/>
          <p:cNvSpPr txBox="1"/>
          <p:nvPr/>
        </p:nvSpPr>
        <p:spPr>
          <a:xfrm>
            <a:off x="531763" y="1954304"/>
            <a:ext cx="16154400" cy="17326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 dirty="0">
                <a:solidFill>
                  <a:srgbClr val="006747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Generative-Enhanced Predictive Modeling for Early-Stage Lung Cancer Diagnosis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14400" y="4312557"/>
            <a:ext cx="6856362" cy="22567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800" dirty="0">
                <a:solidFill>
                  <a:srgbClr val="002060"/>
                </a:solidFill>
                <a:latin typeface="Aptos" panose="020B0004020202020204" pitchFamily="34" charset="0"/>
                <a:ea typeface="Arimo"/>
                <a:cs typeface="Arimo"/>
                <a:sym typeface="Arimo"/>
              </a:rPr>
              <a:t>Presented by  ( AIML B8 – 04 )</a:t>
            </a:r>
            <a:r>
              <a:rPr lang="en-US" sz="2187" dirty="0">
                <a:solidFill>
                  <a:srgbClr val="002060"/>
                </a:solidFill>
                <a:latin typeface="Aptos" panose="020B0004020202020204" pitchFamily="34" charset="0"/>
                <a:ea typeface="Arimo"/>
                <a:cs typeface="Arimo"/>
                <a:sym typeface="Arimo"/>
              </a:rPr>
              <a:t> </a:t>
            </a:r>
            <a:r>
              <a:rPr lang="en-US" sz="2187" dirty="0">
                <a:solidFill>
                  <a:srgbClr val="4B4A4A"/>
                </a:solidFill>
                <a:latin typeface="Aptos" panose="020B0004020202020204" pitchFamily="34" charset="0"/>
                <a:ea typeface="Arimo"/>
                <a:cs typeface="Arimo"/>
                <a:sym typeface="Arimo"/>
              </a:rPr>
              <a:t>   </a:t>
            </a:r>
          </a:p>
          <a:p>
            <a:pPr algn="l">
              <a:lnSpc>
                <a:spcPts val="3562"/>
              </a:lnSpc>
            </a:pPr>
            <a:r>
              <a:rPr lang="en-US" sz="2187" dirty="0">
                <a:solidFill>
                  <a:srgbClr val="4B4A4A"/>
                </a:solidFill>
                <a:latin typeface="Aptos" panose="020B0004020202020204" pitchFamily="34" charset="0"/>
                <a:ea typeface="Arimo"/>
                <a:cs typeface="Arimo"/>
                <a:sym typeface="Arimo"/>
              </a:rPr>
              <a:t>	</a:t>
            </a:r>
            <a:r>
              <a:rPr lang="en-US" sz="2400" dirty="0">
                <a:solidFill>
                  <a:srgbClr val="4B4A4A"/>
                </a:solidFill>
                <a:latin typeface="Aptos" panose="020B0004020202020204" pitchFamily="34" charset="0"/>
                <a:ea typeface="Arimo"/>
                <a:cs typeface="Arimo"/>
                <a:sym typeface="Arimo"/>
              </a:rPr>
              <a:t>P. Jayasree  - 22101A010529           </a:t>
            </a:r>
          </a:p>
          <a:p>
            <a:pPr>
              <a:lnSpc>
                <a:spcPts val="3562"/>
              </a:lnSpc>
            </a:pPr>
            <a:r>
              <a:rPr lang="en-US" sz="2400" dirty="0">
                <a:solidFill>
                  <a:srgbClr val="4B4A4A"/>
                </a:solidFill>
                <a:latin typeface="Aptos" panose="020B0004020202020204" pitchFamily="34" charset="0"/>
                <a:ea typeface="Arimo"/>
                <a:cs typeface="Arimo"/>
                <a:sym typeface="Arimo"/>
              </a:rPr>
              <a:t>	Surisetti Tulasi Rao – 22101A010583 </a:t>
            </a:r>
          </a:p>
          <a:p>
            <a:pPr>
              <a:lnSpc>
                <a:spcPts val="3562"/>
              </a:lnSpc>
            </a:pPr>
            <a:r>
              <a:rPr lang="en-US" sz="2400" dirty="0">
                <a:solidFill>
                  <a:srgbClr val="4B4A4A"/>
                </a:solidFill>
                <a:latin typeface="Aptos" panose="020B0004020202020204" pitchFamily="34" charset="0"/>
                <a:ea typeface="Arimo"/>
                <a:cs typeface="Arimo"/>
                <a:sym typeface="Arimo"/>
              </a:rPr>
              <a:t>	Narahari Sai Jaswanth – 22101A010521</a:t>
            </a:r>
          </a:p>
          <a:p>
            <a:pPr>
              <a:lnSpc>
                <a:spcPts val="3562"/>
              </a:lnSpc>
            </a:pPr>
            <a:r>
              <a:rPr lang="en-US" sz="2400" dirty="0">
                <a:solidFill>
                  <a:srgbClr val="4B4A4A"/>
                </a:solidFill>
                <a:latin typeface="Aptos" panose="020B0004020202020204" pitchFamily="34" charset="0"/>
                <a:ea typeface="Arimo"/>
                <a:cs typeface="Arimo"/>
                <a:sym typeface="Arimo"/>
              </a:rPr>
              <a:t>	Nagalapuram Muni Bhargav – 22101A010515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A13D84-A8F1-AA8B-95C8-F8DEE138797B}"/>
              </a:ext>
            </a:extLst>
          </p:cNvPr>
          <p:cNvSpPr txBox="1"/>
          <p:nvPr/>
        </p:nvSpPr>
        <p:spPr>
          <a:xfrm>
            <a:off x="762000" y="7707392"/>
            <a:ext cx="4517583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>
                <a:solidFill>
                  <a:srgbClr val="0070C0"/>
                </a:solidFill>
                <a:latin typeface="Montserrat" pitchFamily="2" charset="0"/>
                <a:cs typeface="Times New Roman" panose="02020603050405020304" pitchFamily="18" charset="0"/>
              </a:rPr>
              <a:t>Under the guidance of </a:t>
            </a:r>
            <a:endParaRPr lang="en-IN" sz="2800" b="1" dirty="0">
              <a:solidFill>
                <a:srgbClr val="C00000"/>
              </a:solidFill>
              <a:latin typeface="Montserrat" pitchFamily="2" charset="0"/>
              <a:cs typeface="Times New Roman" panose="02020603050405020304" pitchFamily="18" charset="0"/>
            </a:endParaRPr>
          </a:p>
          <a:p>
            <a:r>
              <a:rPr lang="en-IN" sz="2800" b="1" dirty="0">
                <a:solidFill>
                  <a:srgbClr val="C00000"/>
                </a:solidFill>
                <a:latin typeface="Montserrat" pitchFamily="2" charset="0"/>
                <a:cs typeface="Times New Roman" panose="02020603050405020304" pitchFamily="18" charset="0"/>
              </a:rPr>
              <a:t>Mr. K. Naveen Kumar ,</a:t>
            </a:r>
          </a:p>
          <a:p>
            <a:r>
              <a:rPr lang="en-IN" sz="2800" dirty="0">
                <a:solidFill>
                  <a:srgbClr val="C00000"/>
                </a:solidFill>
                <a:latin typeface="Montserrat" pitchFamily="2" charset="0"/>
                <a:cs typeface="Times New Roman" panose="02020603050405020304" pitchFamily="18" charset="0"/>
              </a:rPr>
              <a:t>Assistant Professor,</a:t>
            </a:r>
          </a:p>
          <a:p>
            <a:r>
              <a:rPr lang="en-IN" sz="2800" dirty="0">
                <a:solidFill>
                  <a:srgbClr val="C00000"/>
                </a:solidFill>
                <a:latin typeface="Montserrat" pitchFamily="2" charset="0"/>
                <a:cs typeface="Times New Roman" panose="02020603050405020304" pitchFamily="18" charset="0"/>
              </a:rPr>
              <a:t>Dept. of AIML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35A514-4B4C-C594-F744-35A7F9FE7DE0}"/>
              </a:ext>
            </a:extLst>
          </p:cNvPr>
          <p:cNvSpPr txBox="1"/>
          <p:nvPr/>
        </p:nvSpPr>
        <p:spPr>
          <a:xfrm>
            <a:off x="12416190" y="7707392"/>
            <a:ext cx="5352747" cy="22006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1000"/>
              </a:spcBef>
            </a:pPr>
            <a:r>
              <a:rPr lang="en-IN" sz="2800" b="1" dirty="0">
                <a:solidFill>
                  <a:srgbClr val="0070C0"/>
                </a:solidFill>
                <a:latin typeface="Montserrat" pitchFamily="2" charset="0"/>
                <a:cs typeface="Times New Roman" panose="02020603050405020304" pitchFamily="18" charset="0"/>
              </a:rPr>
              <a:t>Program Head</a:t>
            </a:r>
          </a:p>
          <a:p>
            <a:pPr>
              <a:spcBef>
                <a:spcPts val="1000"/>
              </a:spcBef>
              <a:buClr>
                <a:srgbClr val="C00000"/>
              </a:buClr>
              <a:buSzPts val="2000"/>
            </a:pPr>
            <a:r>
              <a:rPr lang="en-GB" sz="2800" b="1" dirty="0">
                <a:solidFill>
                  <a:srgbClr val="C00000"/>
                </a:solidFill>
                <a:latin typeface="Montserrat" pitchFamily="2" charset="0"/>
                <a:cs typeface="Times New Roman" panose="02020603050405020304" pitchFamily="18" charset="0"/>
                <a:sym typeface="Times New Roman" panose="02020603050405020304"/>
              </a:rPr>
              <a:t>Dr. B. Narendra Kumar Rao,</a:t>
            </a:r>
          </a:p>
          <a:p>
            <a:pPr>
              <a:spcBef>
                <a:spcPts val="1000"/>
              </a:spcBef>
              <a:buClr>
                <a:srgbClr val="C00000"/>
              </a:buClr>
              <a:buSzPts val="2000"/>
            </a:pPr>
            <a:r>
              <a:rPr lang="en-GB" sz="2800" dirty="0">
                <a:solidFill>
                  <a:srgbClr val="C00000"/>
                </a:solidFill>
                <a:latin typeface="Montserrat" pitchFamily="2" charset="0"/>
                <a:cs typeface="Times New Roman" panose="02020603050405020304" pitchFamily="18" charset="0"/>
                <a:sym typeface="Times New Roman" panose="02020603050405020304"/>
              </a:rPr>
              <a:t>Professor &amp; Head, </a:t>
            </a:r>
          </a:p>
          <a:p>
            <a:pPr>
              <a:spcBef>
                <a:spcPts val="1000"/>
              </a:spcBef>
              <a:buClr>
                <a:srgbClr val="C00000"/>
              </a:buClr>
              <a:buSzPts val="2000"/>
            </a:pPr>
            <a:r>
              <a:rPr lang="en-GB" sz="2800" dirty="0">
                <a:solidFill>
                  <a:srgbClr val="C00000"/>
                </a:solidFill>
                <a:latin typeface="Montserrat" pitchFamily="2" charset="0"/>
                <a:cs typeface="Times New Roman" panose="02020603050405020304" pitchFamily="18" charset="0"/>
                <a:sym typeface="Times New Roman" panose="02020603050405020304"/>
              </a:rPr>
              <a:t>Dept. of AIML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990BB8-8D20-9215-9917-67DE0A77F6F1}"/>
              </a:ext>
            </a:extLst>
          </p:cNvPr>
          <p:cNvSpPr txBox="1"/>
          <p:nvPr/>
        </p:nvSpPr>
        <p:spPr>
          <a:xfrm>
            <a:off x="6421940" y="423154"/>
            <a:ext cx="5444119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600" b="1" u="sng" dirty="0">
                <a:solidFill>
                  <a:srgbClr val="3A6D5D"/>
                </a:solidFill>
                <a:latin typeface="Noto Serif Bold" panose="020B0604020202020204" charset="0"/>
                <a:ea typeface="Noto Serif Bold" panose="020B0604020202020204" charset="0"/>
                <a:cs typeface="Noto Serif Bold" panose="020B0604020202020204" charset="0"/>
              </a:rPr>
              <a:t>Project Title</a:t>
            </a:r>
            <a:endParaRPr lang="en-IN" sz="6600" b="1" u="sng" dirty="0">
              <a:solidFill>
                <a:srgbClr val="3A6D5D"/>
              </a:solidFill>
              <a:latin typeface="Noto Serif Bold" panose="020B0604020202020204" charset="0"/>
              <a:ea typeface="Noto Serif Bold" panose="020B0604020202020204" charset="0"/>
              <a:cs typeface="Noto Serif Bold" panose="020B060402020202020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D1590D-8D9A-5C92-0BB9-596BAFADA347}"/>
              </a:ext>
            </a:extLst>
          </p:cNvPr>
          <p:cNvSpPr txBox="1"/>
          <p:nvPr/>
        </p:nvSpPr>
        <p:spPr>
          <a:xfrm>
            <a:off x="6932939" y="7707392"/>
            <a:ext cx="4006225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>
                <a:solidFill>
                  <a:srgbClr val="0070C0"/>
                </a:solidFill>
                <a:latin typeface="Montserrat" panose="00000500000000000000" pitchFamily="2" charset="0"/>
              </a:rPr>
              <a:t>Project Coordinator</a:t>
            </a:r>
            <a:r>
              <a:rPr lang="en-IN" sz="2800" b="1" dirty="0">
                <a:solidFill>
                  <a:srgbClr val="0070C0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2800" b="1" dirty="0">
                <a:solidFill>
                  <a:srgbClr val="C00000"/>
                </a:solidFill>
                <a:latin typeface="Montserrat" pitchFamily="2" charset="0"/>
                <a:cs typeface="Times New Roman" panose="02020603050405020304" pitchFamily="18" charset="0"/>
              </a:rPr>
              <a:t>Mr. K. Ghamya ,</a:t>
            </a:r>
          </a:p>
          <a:p>
            <a:r>
              <a:rPr lang="en-IN" sz="2800" dirty="0">
                <a:solidFill>
                  <a:srgbClr val="C00000"/>
                </a:solidFill>
                <a:latin typeface="Montserrat" pitchFamily="2" charset="0"/>
                <a:cs typeface="Times New Roman" panose="02020603050405020304" pitchFamily="18" charset="0"/>
              </a:rPr>
              <a:t>Assistant Professor,</a:t>
            </a:r>
          </a:p>
          <a:p>
            <a:r>
              <a:rPr lang="en-IN" sz="2800" dirty="0">
                <a:solidFill>
                  <a:srgbClr val="C00000"/>
                </a:solidFill>
                <a:latin typeface="Montserrat" pitchFamily="2" charset="0"/>
                <a:cs typeface="Times New Roman" panose="02020603050405020304" pitchFamily="18" charset="0"/>
              </a:rPr>
              <a:t>Dept. of AIML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992238" y="1866900"/>
            <a:ext cx="5103762" cy="4594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4000" b="1" dirty="0">
                <a:solidFill>
                  <a:srgbClr val="006747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Abstract Overview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3544937"/>
            <a:ext cx="16303526" cy="558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 dirty="0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Lung cancer is a leading cause of cancer-related deaths worldwide.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238" y="4317504"/>
            <a:ext cx="16303526" cy="558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Early detection significantly improves survival, yet medical datasets are often small and imbalanced.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5090071"/>
            <a:ext cx="16303526" cy="1012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Our project proposes a </a:t>
            </a:r>
            <a:r>
              <a:rPr lang="en-US" sz="2187" b="1">
                <a:solidFill>
                  <a:srgbClr val="4B4A4A"/>
                </a:solidFill>
                <a:latin typeface="Arimo Bold"/>
                <a:ea typeface="Arimo Bold"/>
                <a:cs typeface="Arimo Bold"/>
                <a:sym typeface="Arimo Bold"/>
              </a:rPr>
              <a:t>predictive modeling framework</a:t>
            </a:r>
            <a:r>
              <a:rPr lang="en-US" sz="2187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 that integrates </a:t>
            </a:r>
            <a:r>
              <a:rPr lang="en-US" sz="2187" b="1">
                <a:solidFill>
                  <a:srgbClr val="4B4A4A"/>
                </a:solidFill>
                <a:latin typeface="Arimo Bold"/>
                <a:ea typeface="Arimo Bold"/>
                <a:cs typeface="Arimo Bold"/>
                <a:sym typeface="Arimo Bold"/>
              </a:rPr>
              <a:t>CTGAN (synthetic data generation)</a:t>
            </a:r>
            <a:r>
              <a:rPr lang="en-US" sz="2187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 with </a:t>
            </a:r>
            <a:r>
              <a:rPr lang="en-US" sz="2187" b="1">
                <a:solidFill>
                  <a:srgbClr val="4B4A4A"/>
                </a:solidFill>
                <a:latin typeface="Arimo Bold"/>
                <a:ea typeface="Arimo Bold"/>
                <a:cs typeface="Arimo Bold"/>
                <a:sym typeface="Arimo Bold"/>
              </a:rPr>
              <a:t>Random Forest (tree-based classification)</a:t>
            </a:r>
            <a:r>
              <a:rPr lang="en-US" sz="2187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2238" y="6316266"/>
            <a:ext cx="16303526" cy="558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This approach aims to </a:t>
            </a:r>
            <a:r>
              <a:rPr lang="en-US" sz="2187" b="1">
                <a:solidFill>
                  <a:srgbClr val="4B4A4A"/>
                </a:solidFill>
                <a:latin typeface="Arimo Bold"/>
                <a:ea typeface="Arimo Bold"/>
                <a:cs typeface="Arimo Bold"/>
                <a:sym typeface="Arimo Bold"/>
              </a:rPr>
              <a:t>enhance prediction accuracy and reliability</a:t>
            </a:r>
            <a:r>
              <a:rPr lang="en-US" sz="2187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 compared to conventional models.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2238" y="7088833"/>
            <a:ext cx="16303526" cy="558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The project is ongoing and focuses on methodology, design, and planned comparisons.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1017638" y="2019300"/>
            <a:ext cx="7088237" cy="847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4400" b="1" dirty="0">
                <a:solidFill>
                  <a:srgbClr val="006747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Introduction</a:t>
            </a:r>
            <a:r>
              <a:rPr lang="en-US" sz="5562" b="1" dirty="0">
                <a:solidFill>
                  <a:srgbClr val="006747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 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3993207"/>
            <a:ext cx="16303526" cy="558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Lung cancer diagnosis is challenging due to subtle symptoms and late detection.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238" y="4765774"/>
            <a:ext cx="16303526" cy="558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Medical datasets are </a:t>
            </a:r>
            <a:r>
              <a:rPr lang="en-US" sz="2187" b="1">
                <a:solidFill>
                  <a:srgbClr val="4B4A4A"/>
                </a:solidFill>
                <a:latin typeface="Arimo Bold"/>
                <a:ea typeface="Arimo Bold"/>
                <a:cs typeface="Arimo Bold"/>
                <a:sym typeface="Arimo Bold"/>
              </a:rPr>
              <a:t>imbalanced</a:t>
            </a:r>
            <a:r>
              <a:rPr lang="en-US" sz="2187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 → classifiers often biased toward majority classes.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5538341"/>
            <a:ext cx="16303526" cy="558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Traditional ML models show limited generalization.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2238" y="6310907"/>
            <a:ext cx="16303526" cy="558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Recent advances in </a:t>
            </a:r>
            <a:r>
              <a:rPr lang="en-US" sz="2187" b="1">
                <a:solidFill>
                  <a:srgbClr val="4B4A4A"/>
                </a:solidFill>
                <a:latin typeface="Arimo Bold"/>
                <a:ea typeface="Arimo Bold"/>
                <a:cs typeface="Arimo Bold"/>
                <a:sym typeface="Arimo Bold"/>
              </a:rPr>
              <a:t>generative models (CTGAN)</a:t>
            </a:r>
            <a:r>
              <a:rPr lang="en-US" sz="2187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 allow creation of realistic synthetic data.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2238" y="7083475"/>
            <a:ext cx="16303526" cy="558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Combining with </a:t>
            </a:r>
            <a:r>
              <a:rPr lang="en-US" sz="2187" b="1">
                <a:solidFill>
                  <a:srgbClr val="4B4A4A"/>
                </a:solidFill>
                <a:latin typeface="Arimo Bold"/>
                <a:ea typeface="Arimo Bold"/>
                <a:cs typeface="Arimo Bold"/>
                <a:sym typeface="Arimo Bold"/>
              </a:rPr>
              <a:t>Random Forest</a:t>
            </a:r>
            <a:r>
              <a:rPr lang="en-US" sz="2187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 offers robust classification for small, complex datasets.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992238" y="1843831"/>
            <a:ext cx="7368629" cy="914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>
                <a:solidFill>
                  <a:srgbClr val="006747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Problem Statement 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00200" y="3482875"/>
            <a:ext cx="16303526" cy="558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 dirty="0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Current detection methods struggle with: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87500" y="4325787"/>
            <a:ext cx="16303526" cy="558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 b="1" dirty="0">
                <a:solidFill>
                  <a:srgbClr val="4B4A4A"/>
                </a:solidFill>
                <a:latin typeface="Arimo Bold"/>
                <a:ea typeface="Arimo Bold"/>
                <a:cs typeface="Arimo Bold"/>
                <a:sym typeface="Arimo Bold"/>
              </a:rPr>
              <a:t>Data imbalance</a:t>
            </a:r>
            <a:r>
              <a:rPr lang="en-US" sz="2187" dirty="0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 (minority class underrepresented).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87500" y="5123608"/>
            <a:ext cx="16303526" cy="558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 b="1" dirty="0">
                <a:solidFill>
                  <a:srgbClr val="4B4A4A"/>
                </a:solidFill>
                <a:latin typeface="Arimo Bold"/>
                <a:ea typeface="Arimo Bold"/>
                <a:cs typeface="Arimo Bold"/>
                <a:sym typeface="Arimo Bold"/>
              </a:rPr>
              <a:t>Limited dataset size</a:t>
            </a:r>
            <a:r>
              <a:rPr lang="en-US" sz="2187" dirty="0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 (few hundred samples).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87500" y="5893194"/>
            <a:ext cx="16303526" cy="558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 b="1" dirty="0">
                <a:solidFill>
                  <a:srgbClr val="4B4A4A"/>
                </a:solidFill>
                <a:latin typeface="Arimo Bold"/>
                <a:ea typeface="Arimo Bold"/>
                <a:cs typeface="Arimo Bold"/>
                <a:sym typeface="Arimo Bold"/>
              </a:rPr>
              <a:t>Inconsistent prediction accuracy</a:t>
            </a:r>
            <a:r>
              <a:rPr lang="en-US" sz="2187" dirty="0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 with existing ML models.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87500" y="6662780"/>
            <a:ext cx="16303526" cy="558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 dirty="0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Need for a </a:t>
            </a:r>
            <a:r>
              <a:rPr lang="en-US" sz="2187" b="1" dirty="0">
                <a:solidFill>
                  <a:srgbClr val="4B4A4A"/>
                </a:solidFill>
                <a:latin typeface="Arimo Bold"/>
                <a:ea typeface="Arimo Bold"/>
                <a:cs typeface="Arimo Bold"/>
                <a:sym typeface="Arimo Bold"/>
              </a:rPr>
              <a:t>framework that balances data and improves prediction performance</a:t>
            </a:r>
            <a:r>
              <a:rPr lang="en-US" sz="2187" dirty="0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 for early-stage lung cancer detection.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992238" y="2866727"/>
            <a:ext cx="6070550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006747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Existing Systems and Limitations: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92238" y="3886200"/>
            <a:ext cx="76200" cy="3524399"/>
            <a:chOff x="0" y="0"/>
            <a:chExt cx="101600" cy="469919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1600" cy="4699254"/>
            </a:xfrm>
            <a:custGeom>
              <a:avLst/>
              <a:gdLst/>
              <a:ahLst/>
              <a:cxnLst/>
              <a:rect l="l" t="t" r="r" b="b"/>
              <a:pathLst>
                <a:path w="101600" h="4699254">
                  <a:moveTo>
                    <a:pt x="0" y="50800"/>
                  </a:moveTo>
                  <a:cubicBezTo>
                    <a:pt x="0" y="22733"/>
                    <a:pt x="22733" y="0"/>
                    <a:pt x="50800" y="0"/>
                  </a:cubicBezTo>
                  <a:cubicBezTo>
                    <a:pt x="78867" y="0"/>
                    <a:pt x="101600" y="22733"/>
                    <a:pt x="101600" y="50800"/>
                  </a:cubicBezTo>
                  <a:lnTo>
                    <a:pt x="101600" y="4648454"/>
                  </a:lnTo>
                  <a:cubicBezTo>
                    <a:pt x="101600" y="4676521"/>
                    <a:pt x="78867" y="4699254"/>
                    <a:pt x="50800" y="4699254"/>
                  </a:cubicBezTo>
                  <a:cubicBezTo>
                    <a:pt x="22733" y="4699254"/>
                    <a:pt x="0" y="4676521"/>
                    <a:pt x="0" y="4648454"/>
                  </a:cubicBezTo>
                  <a:close/>
                </a:path>
              </a:pathLst>
            </a:custGeom>
            <a:solidFill>
              <a:srgbClr val="006747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1390055" y="4198292"/>
            <a:ext cx="5314652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4B4A4A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Limitations of Traditional ML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90055" y="4716065"/>
            <a:ext cx="7290495" cy="2372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Traditional machine learning models often struggle with imbalanced datasets, leading to biased predictions and poor generalization, especially for minority classes (e.g., early-stage cancer). Overfitting to limited data is a common issue.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9285685" y="3886200"/>
            <a:ext cx="76200" cy="3524399"/>
            <a:chOff x="0" y="0"/>
            <a:chExt cx="101600" cy="469919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1600" cy="4699254"/>
            </a:xfrm>
            <a:custGeom>
              <a:avLst/>
              <a:gdLst/>
              <a:ahLst/>
              <a:cxnLst/>
              <a:rect l="l" t="t" r="r" b="b"/>
              <a:pathLst>
                <a:path w="101600" h="4699254">
                  <a:moveTo>
                    <a:pt x="0" y="50800"/>
                  </a:moveTo>
                  <a:cubicBezTo>
                    <a:pt x="0" y="22733"/>
                    <a:pt x="22733" y="0"/>
                    <a:pt x="50800" y="0"/>
                  </a:cubicBezTo>
                  <a:cubicBezTo>
                    <a:pt x="78867" y="0"/>
                    <a:pt x="101600" y="22733"/>
                    <a:pt x="101600" y="50800"/>
                  </a:cubicBezTo>
                  <a:lnTo>
                    <a:pt x="101600" y="4648454"/>
                  </a:lnTo>
                  <a:cubicBezTo>
                    <a:pt x="101600" y="4676521"/>
                    <a:pt x="78867" y="4699254"/>
                    <a:pt x="50800" y="4699254"/>
                  </a:cubicBezTo>
                  <a:cubicBezTo>
                    <a:pt x="22733" y="4699254"/>
                    <a:pt x="0" y="4676521"/>
                    <a:pt x="0" y="4648454"/>
                  </a:cubicBezTo>
                  <a:close/>
                </a:path>
              </a:pathLst>
            </a:custGeom>
            <a:solidFill>
              <a:srgbClr val="006747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9683502" y="4198292"/>
            <a:ext cx="4868019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4B4A4A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Need for Novel Approaches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683502" y="4716065"/>
            <a:ext cx="7290644" cy="2372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There is a critical need for advanced data augmentation techniques that can generate synthetic yet realistic medical data to mitigate imbalance and enhance model robustness without compromising data privacy or integrity.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840135" y="641002"/>
            <a:ext cx="3000672" cy="394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12" b="1">
                <a:solidFill>
                  <a:srgbClr val="006747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Methodology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40135" y="1410295"/>
            <a:ext cx="16607730" cy="488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Proposed Framework: CTGAN &amp; Random Forest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685800" y="2080143"/>
            <a:ext cx="16470809" cy="7102674"/>
            <a:chOff x="0" y="0"/>
            <a:chExt cx="21961078" cy="9470232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21961094" cy="9470263"/>
            </a:xfrm>
            <a:custGeom>
              <a:avLst/>
              <a:gdLst/>
              <a:ahLst/>
              <a:cxnLst/>
              <a:rect l="l" t="t" r="r" b="b"/>
              <a:pathLst>
                <a:path w="21961094" h="9470263">
                  <a:moveTo>
                    <a:pt x="0" y="0"/>
                  </a:moveTo>
                  <a:lnTo>
                    <a:pt x="21961094" y="0"/>
                  </a:lnTo>
                  <a:lnTo>
                    <a:pt x="21961094" y="9470263"/>
                  </a:lnTo>
                  <a:lnTo>
                    <a:pt x="0" y="94702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7" b="-26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2016829" y="7924761"/>
            <a:ext cx="3736714" cy="467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87" b="1">
                <a:solidFill>
                  <a:srgbClr val="FFFFFF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Random Forest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016829" y="6280607"/>
            <a:ext cx="3736714" cy="467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87" b="1">
                <a:solidFill>
                  <a:srgbClr val="FFFFFF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Combined Data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016829" y="4653061"/>
            <a:ext cx="3736714" cy="467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87" b="1">
                <a:solidFill>
                  <a:srgbClr val="FFFFFF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CTGAN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016829" y="3008906"/>
            <a:ext cx="3736714" cy="467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87" b="1">
                <a:solidFill>
                  <a:srgbClr val="FFFFFF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Real Lung CT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40135" y="9436894"/>
            <a:ext cx="16607730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Our proposed framework leverages a Conditional Tabular Generative Adversarial Network (CTGAN) for synthetic data generation and a Random Forest classifier for robust prediction.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992238" y="2171700"/>
            <a:ext cx="10132962" cy="4594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4000" b="1" dirty="0">
                <a:solidFill>
                  <a:srgbClr val="006747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CTGAN for Synthetic Data Generation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92238" y="3896916"/>
            <a:ext cx="708720" cy="708720"/>
            <a:chOff x="0" y="0"/>
            <a:chExt cx="944960" cy="944960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945007" cy="945007"/>
            </a:xfrm>
            <a:custGeom>
              <a:avLst/>
              <a:gdLst/>
              <a:ahLst/>
              <a:cxnLst/>
              <a:rect l="l" t="t" r="r" b="b"/>
              <a:pathLst>
                <a:path w="945007" h="945007">
                  <a:moveTo>
                    <a:pt x="0" y="0"/>
                  </a:moveTo>
                  <a:lnTo>
                    <a:pt x="945007" y="0"/>
                  </a:lnTo>
                  <a:lnTo>
                    <a:pt x="945007" y="945007"/>
                  </a:lnTo>
                  <a:lnTo>
                    <a:pt x="0" y="9450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4" b="4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2055316" y="4055715"/>
            <a:ext cx="3994845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4B4A4A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Generative AI for Data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985144" y="4843609"/>
            <a:ext cx="4135190" cy="282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CTGAN is a type of GAN designed for generating high-quality synthetic tabular data that mimics the statistical properties of real-world datasets.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6544866" y="3896916"/>
            <a:ext cx="708720" cy="708720"/>
            <a:chOff x="0" y="0"/>
            <a:chExt cx="944960" cy="944960"/>
          </a:xfrm>
        </p:grpSpPr>
        <p:sp>
          <p:nvSpPr>
            <p:cNvPr id="12" name="Freeform 12" descr="preencoded.png"/>
            <p:cNvSpPr/>
            <p:nvPr/>
          </p:nvSpPr>
          <p:spPr>
            <a:xfrm>
              <a:off x="0" y="0"/>
              <a:ext cx="945007" cy="945007"/>
            </a:xfrm>
            <a:custGeom>
              <a:avLst/>
              <a:gdLst/>
              <a:ahLst/>
              <a:cxnLst/>
              <a:rect l="l" t="t" r="r" b="b"/>
              <a:pathLst>
                <a:path w="945007" h="945007">
                  <a:moveTo>
                    <a:pt x="0" y="0"/>
                  </a:moveTo>
                  <a:lnTo>
                    <a:pt x="945007" y="0"/>
                  </a:lnTo>
                  <a:lnTo>
                    <a:pt x="945007" y="945007"/>
                  </a:lnTo>
                  <a:lnTo>
                    <a:pt x="0" y="9450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4" b="4"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7607945" y="4055715"/>
            <a:ext cx="4040238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4B4A4A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Addressing Imbalance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607945" y="4843609"/>
            <a:ext cx="4135190" cy="282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By generating synthetic samples for the minority class (cancer cases), CTGAN helps balance the dataset, preventing model bias and improving sensitivity.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2097494" y="3896916"/>
            <a:ext cx="708720" cy="708720"/>
            <a:chOff x="0" y="0"/>
            <a:chExt cx="944960" cy="944960"/>
          </a:xfrm>
        </p:grpSpPr>
        <p:sp>
          <p:nvSpPr>
            <p:cNvPr id="16" name="Freeform 16" descr="preencoded.png"/>
            <p:cNvSpPr/>
            <p:nvPr/>
          </p:nvSpPr>
          <p:spPr>
            <a:xfrm>
              <a:off x="0" y="0"/>
              <a:ext cx="945007" cy="945007"/>
            </a:xfrm>
            <a:custGeom>
              <a:avLst/>
              <a:gdLst/>
              <a:ahLst/>
              <a:cxnLst/>
              <a:rect l="l" t="t" r="r" b="b"/>
              <a:pathLst>
                <a:path w="945007" h="945007">
                  <a:moveTo>
                    <a:pt x="0" y="0"/>
                  </a:moveTo>
                  <a:lnTo>
                    <a:pt x="945007" y="0"/>
                  </a:lnTo>
                  <a:lnTo>
                    <a:pt x="945007" y="945007"/>
                  </a:lnTo>
                  <a:lnTo>
                    <a:pt x="0" y="9450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4" b="4"/>
              </a:stretch>
            </a:blipFill>
          </p:spPr>
        </p:sp>
      </p:grpSp>
      <p:sp>
        <p:nvSpPr>
          <p:cNvPr id="17" name="TextBox 17"/>
          <p:cNvSpPr txBox="1"/>
          <p:nvPr/>
        </p:nvSpPr>
        <p:spPr>
          <a:xfrm>
            <a:off x="13160574" y="4055715"/>
            <a:ext cx="3544044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4B4A4A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Privacy-Preserving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267135" y="4843609"/>
            <a:ext cx="4135190" cy="2372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Synthetic data generated by CTGAN maintains data utility while protecting patient privacy, an essential aspect in healthcare research.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1285280" y="2171700"/>
            <a:ext cx="3544044" cy="4594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4000" b="1" dirty="0">
                <a:solidFill>
                  <a:srgbClr val="006747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Objectives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85280" y="3976836"/>
            <a:ext cx="4030266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4B4A4A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Develop Robust Model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85280" y="4494610"/>
            <a:ext cx="4435823" cy="1919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To create a predictive model capable of identifying early-stage lung cancer with high accuracy and sensitivity.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6429821" y="3702844"/>
            <a:ext cx="38100" cy="3891111"/>
            <a:chOff x="0" y="0"/>
            <a:chExt cx="50800" cy="518814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0800" cy="5188204"/>
            </a:xfrm>
            <a:custGeom>
              <a:avLst/>
              <a:gdLst/>
              <a:ahLst/>
              <a:cxnLst/>
              <a:rect l="l" t="t" r="r" b="b"/>
              <a:pathLst>
                <a:path w="50800" h="5188204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5162804"/>
                  </a:lnTo>
                  <a:cubicBezTo>
                    <a:pt x="50800" y="5176774"/>
                    <a:pt x="39370" y="5188204"/>
                    <a:pt x="25400" y="5188204"/>
                  </a:cubicBezTo>
                  <a:cubicBezTo>
                    <a:pt x="11430" y="5188204"/>
                    <a:pt x="0" y="5176774"/>
                    <a:pt x="0" y="5162804"/>
                  </a:cubicBezTo>
                  <a:close/>
                </a:path>
              </a:pathLst>
            </a:custGeom>
            <a:solidFill>
              <a:srgbClr val="B7D5CA"/>
            </a:solidFill>
          </p:spPr>
        </p:sp>
      </p:grpSp>
      <p:sp>
        <p:nvSpPr>
          <p:cNvPr id="18" name="TextBox 18"/>
          <p:cNvSpPr txBox="1"/>
          <p:nvPr/>
        </p:nvSpPr>
        <p:spPr>
          <a:xfrm>
            <a:off x="7138541" y="3976836"/>
            <a:ext cx="4010769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4B4A4A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Leverage Synthetic Data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138541" y="4937523"/>
            <a:ext cx="4010769" cy="2372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To effectively utilize CTGAN for augmenting limited, imbalanced lung cancer datasets, improving model generalizability.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6056411" y="5274915"/>
            <a:ext cx="746820" cy="746820"/>
            <a:chOff x="0" y="0"/>
            <a:chExt cx="995760" cy="995760"/>
          </a:xfrm>
        </p:grpSpPr>
        <p:sp>
          <p:nvSpPr>
            <p:cNvPr id="21" name="Freeform 21"/>
            <p:cNvSpPr/>
            <p:nvPr/>
          </p:nvSpPr>
          <p:spPr>
            <a:xfrm>
              <a:off x="25400" y="25400"/>
              <a:ext cx="945007" cy="945007"/>
            </a:xfrm>
            <a:custGeom>
              <a:avLst/>
              <a:gdLst/>
              <a:ahLst/>
              <a:cxnLst/>
              <a:rect l="l" t="t" r="r" b="b"/>
              <a:pathLst>
                <a:path w="945007" h="945007">
                  <a:moveTo>
                    <a:pt x="0" y="340233"/>
                  </a:moveTo>
                  <a:cubicBezTo>
                    <a:pt x="0" y="152273"/>
                    <a:pt x="152273" y="0"/>
                    <a:pt x="340233" y="0"/>
                  </a:cubicBezTo>
                  <a:lnTo>
                    <a:pt x="604774" y="0"/>
                  </a:lnTo>
                  <a:cubicBezTo>
                    <a:pt x="792734" y="0"/>
                    <a:pt x="945007" y="152273"/>
                    <a:pt x="945007" y="340233"/>
                  </a:cubicBezTo>
                  <a:lnTo>
                    <a:pt x="945007" y="604774"/>
                  </a:lnTo>
                  <a:cubicBezTo>
                    <a:pt x="945007" y="792734"/>
                    <a:pt x="792734" y="945007"/>
                    <a:pt x="604774" y="945007"/>
                  </a:cubicBezTo>
                  <a:lnTo>
                    <a:pt x="340233" y="945007"/>
                  </a:lnTo>
                  <a:cubicBezTo>
                    <a:pt x="152273" y="945007"/>
                    <a:pt x="0" y="792607"/>
                    <a:pt x="0" y="604774"/>
                  </a:cubicBezTo>
                  <a:close/>
                </a:path>
              </a:pathLst>
            </a:custGeom>
            <a:solidFill>
              <a:srgbClr val="E5F9F2">
                <a:alpha val="90196"/>
              </a:srgbClr>
            </a:solidFill>
          </p:spPr>
        </p:sp>
        <p:sp>
          <p:nvSpPr>
            <p:cNvPr id="22" name="Freeform 22"/>
            <p:cNvSpPr/>
            <p:nvPr/>
          </p:nvSpPr>
          <p:spPr>
            <a:xfrm>
              <a:off x="0" y="0"/>
              <a:ext cx="995807" cy="995807"/>
            </a:xfrm>
            <a:custGeom>
              <a:avLst/>
              <a:gdLst/>
              <a:ahLst/>
              <a:cxnLst/>
              <a:rect l="l" t="t" r="r" b="b"/>
              <a:pathLst>
                <a:path w="995807" h="995807">
                  <a:moveTo>
                    <a:pt x="0" y="365633"/>
                  </a:moveTo>
                  <a:cubicBezTo>
                    <a:pt x="0" y="163703"/>
                    <a:pt x="163703" y="0"/>
                    <a:pt x="365633" y="0"/>
                  </a:cubicBezTo>
                  <a:lnTo>
                    <a:pt x="630174" y="0"/>
                  </a:lnTo>
                  <a:lnTo>
                    <a:pt x="630174" y="25400"/>
                  </a:lnTo>
                  <a:lnTo>
                    <a:pt x="630174" y="0"/>
                  </a:lnTo>
                  <a:cubicBezTo>
                    <a:pt x="832104" y="0"/>
                    <a:pt x="995807" y="163703"/>
                    <a:pt x="995807" y="365633"/>
                  </a:cubicBezTo>
                  <a:lnTo>
                    <a:pt x="995807" y="630174"/>
                  </a:lnTo>
                  <a:lnTo>
                    <a:pt x="970407" y="630174"/>
                  </a:lnTo>
                  <a:lnTo>
                    <a:pt x="995807" y="630174"/>
                  </a:lnTo>
                  <a:cubicBezTo>
                    <a:pt x="995807" y="832104"/>
                    <a:pt x="832104" y="995807"/>
                    <a:pt x="630174" y="995807"/>
                  </a:cubicBezTo>
                  <a:lnTo>
                    <a:pt x="630174" y="970407"/>
                  </a:lnTo>
                  <a:lnTo>
                    <a:pt x="630174" y="995807"/>
                  </a:lnTo>
                  <a:lnTo>
                    <a:pt x="365633" y="995807"/>
                  </a:lnTo>
                  <a:lnTo>
                    <a:pt x="365633" y="970407"/>
                  </a:lnTo>
                  <a:lnTo>
                    <a:pt x="365633" y="995807"/>
                  </a:lnTo>
                  <a:cubicBezTo>
                    <a:pt x="163703" y="995807"/>
                    <a:pt x="0" y="832104"/>
                    <a:pt x="0" y="630174"/>
                  </a:cubicBezTo>
                  <a:lnTo>
                    <a:pt x="0" y="365633"/>
                  </a:lnTo>
                  <a:lnTo>
                    <a:pt x="25400" y="365633"/>
                  </a:lnTo>
                  <a:lnTo>
                    <a:pt x="0" y="365633"/>
                  </a:lnTo>
                  <a:moveTo>
                    <a:pt x="50800" y="365633"/>
                  </a:moveTo>
                  <a:lnTo>
                    <a:pt x="50800" y="630174"/>
                  </a:lnTo>
                  <a:lnTo>
                    <a:pt x="25400" y="630174"/>
                  </a:lnTo>
                  <a:lnTo>
                    <a:pt x="50800" y="630174"/>
                  </a:lnTo>
                  <a:cubicBezTo>
                    <a:pt x="50800" y="804037"/>
                    <a:pt x="191770" y="945007"/>
                    <a:pt x="365633" y="945007"/>
                  </a:cubicBezTo>
                  <a:lnTo>
                    <a:pt x="630174" y="945007"/>
                  </a:lnTo>
                  <a:cubicBezTo>
                    <a:pt x="804037" y="945007"/>
                    <a:pt x="945007" y="804037"/>
                    <a:pt x="945007" y="630174"/>
                  </a:cubicBezTo>
                  <a:lnTo>
                    <a:pt x="945007" y="365633"/>
                  </a:lnTo>
                  <a:lnTo>
                    <a:pt x="970407" y="365633"/>
                  </a:lnTo>
                  <a:lnTo>
                    <a:pt x="945007" y="365633"/>
                  </a:lnTo>
                  <a:cubicBezTo>
                    <a:pt x="945007" y="191770"/>
                    <a:pt x="804037" y="50800"/>
                    <a:pt x="630174" y="50800"/>
                  </a:cubicBezTo>
                  <a:lnTo>
                    <a:pt x="365633" y="50800"/>
                  </a:lnTo>
                  <a:lnTo>
                    <a:pt x="365633" y="25400"/>
                  </a:lnTo>
                  <a:lnTo>
                    <a:pt x="365633" y="50800"/>
                  </a:lnTo>
                  <a:cubicBezTo>
                    <a:pt x="191770" y="50800"/>
                    <a:pt x="50800" y="191770"/>
                    <a:pt x="50800" y="365633"/>
                  </a:cubicBezTo>
                  <a:close/>
                </a:path>
              </a:pathLst>
            </a:custGeom>
            <a:solidFill>
              <a:srgbClr val="B7D5CA"/>
            </a:solidFill>
          </p:spPr>
        </p:sp>
      </p:grpSp>
      <p:grpSp>
        <p:nvGrpSpPr>
          <p:cNvPr id="23" name="Group 23"/>
          <p:cNvGrpSpPr/>
          <p:nvPr/>
        </p:nvGrpSpPr>
        <p:grpSpPr>
          <a:xfrm>
            <a:off x="6252568" y="5426869"/>
            <a:ext cx="354360" cy="442912"/>
            <a:chOff x="0" y="0"/>
            <a:chExt cx="472480" cy="590550"/>
          </a:xfrm>
        </p:grpSpPr>
        <p:sp>
          <p:nvSpPr>
            <p:cNvPr id="24" name="Freeform 24" descr="preencoded.png"/>
            <p:cNvSpPr/>
            <p:nvPr/>
          </p:nvSpPr>
          <p:spPr>
            <a:xfrm>
              <a:off x="0" y="0"/>
              <a:ext cx="472440" cy="590550"/>
            </a:xfrm>
            <a:custGeom>
              <a:avLst/>
              <a:gdLst/>
              <a:ahLst/>
              <a:cxnLst/>
              <a:rect l="l" t="t" r="r" b="b"/>
              <a:pathLst>
                <a:path w="472440" h="590550">
                  <a:moveTo>
                    <a:pt x="0" y="0"/>
                  </a:moveTo>
                  <a:lnTo>
                    <a:pt x="472440" y="0"/>
                  </a:lnTo>
                  <a:lnTo>
                    <a:pt x="472440" y="590550"/>
                  </a:lnTo>
                  <a:lnTo>
                    <a:pt x="0" y="590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815" r="-8" b="-815"/>
              </a:stretch>
            </a:blipFill>
          </p:spPr>
        </p:sp>
      </p:grpSp>
      <p:grpSp>
        <p:nvGrpSpPr>
          <p:cNvPr id="27" name="Group 27"/>
          <p:cNvGrpSpPr/>
          <p:nvPr/>
        </p:nvGrpSpPr>
        <p:grpSpPr>
          <a:xfrm>
            <a:off x="11858030" y="3702844"/>
            <a:ext cx="38100" cy="3891111"/>
            <a:chOff x="0" y="0"/>
            <a:chExt cx="50800" cy="5188148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50800" cy="5188204"/>
            </a:xfrm>
            <a:custGeom>
              <a:avLst/>
              <a:gdLst/>
              <a:ahLst/>
              <a:cxnLst/>
              <a:rect l="l" t="t" r="r" b="b"/>
              <a:pathLst>
                <a:path w="50800" h="5188204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5162804"/>
                  </a:lnTo>
                  <a:cubicBezTo>
                    <a:pt x="50800" y="5176774"/>
                    <a:pt x="39370" y="5188204"/>
                    <a:pt x="25400" y="5188204"/>
                  </a:cubicBezTo>
                  <a:cubicBezTo>
                    <a:pt x="11430" y="5188204"/>
                    <a:pt x="0" y="5176774"/>
                    <a:pt x="0" y="5162804"/>
                  </a:cubicBezTo>
                  <a:close/>
                </a:path>
              </a:pathLst>
            </a:custGeom>
            <a:solidFill>
              <a:srgbClr val="B7D5CA"/>
            </a:solidFill>
          </p:spPr>
        </p:sp>
      </p:grpSp>
      <p:sp>
        <p:nvSpPr>
          <p:cNvPr id="29" name="TextBox 29"/>
          <p:cNvSpPr txBox="1"/>
          <p:nvPr/>
        </p:nvSpPr>
        <p:spPr>
          <a:xfrm>
            <a:off x="12566749" y="3976836"/>
            <a:ext cx="3981450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4B4A4A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Evaluate Performance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566749" y="4494610"/>
            <a:ext cx="4435971" cy="2372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To rigorously assess the model's predictive capabilities on independent test sets, focusing on metrics relevant to early detection.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11484620" y="5274915"/>
            <a:ext cx="746820" cy="746820"/>
            <a:chOff x="0" y="0"/>
            <a:chExt cx="995760" cy="995760"/>
          </a:xfrm>
        </p:grpSpPr>
        <p:sp>
          <p:nvSpPr>
            <p:cNvPr id="32" name="Freeform 32"/>
            <p:cNvSpPr/>
            <p:nvPr/>
          </p:nvSpPr>
          <p:spPr>
            <a:xfrm>
              <a:off x="25400" y="25400"/>
              <a:ext cx="945007" cy="945007"/>
            </a:xfrm>
            <a:custGeom>
              <a:avLst/>
              <a:gdLst/>
              <a:ahLst/>
              <a:cxnLst/>
              <a:rect l="l" t="t" r="r" b="b"/>
              <a:pathLst>
                <a:path w="945007" h="945007">
                  <a:moveTo>
                    <a:pt x="0" y="340233"/>
                  </a:moveTo>
                  <a:cubicBezTo>
                    <a:pt x="0" y="152273"/>
                    <a:pt x="152273" y="0"/>
                    <a:pt x="340233" y="0"/>
                  </a:cubicBezTo>
                  <a:lnTo>
                    <a:pt x="604774" y="0"/>
                  </a:lnTo>
                  <a:cubicBezTo>
                    <a:pt x="792734" y="0"/>
                    <a:pt x="945007" y="152273"/>
                    <a:pt x="945007" y="340233"/>
                  </a:cubicBezTo>
                  <a:lnTo>
                    <a:pt x="945007" y="604774"/>
                  </a:lnTo>
                  <a:cubicBezTo>
                    <a:pt x="945007" y="792734"/>
                    <a:pt x="792734" y="945007"/>
                    <a:pt x="604774" y="945007"/>
                  </a:cubicBezTo>
                  <a:lnTo>
                    <a:pt x="340233" y="945007"/>
                  </a:lnTo>
                  <a:cubicBezTo>
                    <a:pt x="152273" y="945007"/>
                    <a:pt x="0" y="792607"/>
                    <a:pt x="0" y="604774"/>
                  </a:cubicBezTo>
                  <a:close/>
                </a:path>
              </a:pathLst>
            </a:custGeom>
            <a:solidFill>
              <a:srgbClr val="E5F9F2">
                <a:alpha val="90196"/>
              </a:srgbClr>
            </a:solidFill>
          </p:spPr>
        </p:sp>
        <p:sp>
          <p:nvSpPr>
            <p:cNvPr id="33" name="Freeform 33"/>
            <p:cNvSpPr/>
            <p:nvPr/>
          </p:nvSpPr>
          <p:spPr>
            <a:xfrm>
              <a:off x="0" y="0"/>
              <a:ext cx="995807" cy="995807"/>
            </a:xfrm>
            <a:custGeom>
              <a:avLst/>
              <a:gdLst/>
              <a:ahLst/>
              <a:cxnLst/>
              <a:rect l="l" t="t" r="r" b="b"/>
              <a:pathLst>
                <a:path w="995807" h="995807">
                  <a:moveTo>
                    <a:pt x="0" y="365633"/>
                  </a:moveTo>
                  <a:cubicBezTo>
                    <a:pt x="0" y="163703"/>
                    <a:pt x="163703" y="0"/>
                    <a:pt x="365633" y="0"/>
                  </a:cubicBezTo>
                  <a:lnTo>
                    <a:pt x="630174" y="0"/>
                  </a:lnTo>
                  <a:lnTo>
                    <a:pt x="630174" y="25400"/>
                  </a:lnTo>
                  <a:lnTo>
                    <a:pt x="630174" y="0"/>
                  </a:lnTo>
                  <a:cubicBezTo>
                    <a:pt x="832104" y="0"/>
                    <a:pt x="995807" y="163703"/>
                    <a:pt x="995807" y="365633"/>
                  </a:cubicBezTo>
                  <a:lnTo>
                    <a:pt x="995807" y="630174"/>
                  </a:lnTo>
                  <a:lnTo>
                    <a:pt x="970407" y="630174"/>
                  </a:lnTo>
                  <a:lnTo>
                    <a:pt x="995807" y="630174"/>
                  </a:lnTo>
                  <a:cubicBezTo>
                    <a:pt x="995807" y="832104"/>
                    <a:pt x="832104" y="995807"/>
                    <a:pt x="630174" y="995807"/>
                  </a:cubicBezTo>
                  <a:lnTo>
                    <a:pt x="630174" y="970407"/>
                  </a:lnTo>
                  <a:lnTo>
                    <a:pt x="630174" y="995807"/>
                  </a:lnTo>
                  <a:lnTo>
                    <a:pt x="365633" y="995807"/>
                  </a:lnTo>
                  <a:lnTo>
                    <a:pt x="365633" y="970407"/>
                  </a:lnTo>
                  <a:lnTo>
                    <a:pt x="365633" y="995807"/>
                  </a:lnTo>
                  <a:cubicBezTo>
                    <a:pt x="163703" y="995807"/>
                    <a:pt x="0" y="832104"/>
                    <a:pt x="0" y="630174"/>
                  </a:cubicBezTo>
                  <a:lnTo>
                    <a:pt x="0" y="365633"/>
                  </a:lnTo>
                  <a:lnTo>
                    <a:pt x="25400" y="365633"/>
                  </a:lnTo>
                  <a:lnTo>
                    <a:pt x="0" y="365633"/>
                  </a:lnTo>
                  <a:moveTo>
                    <a:pt x="50800" y="365633"/>
                  </a:moveTo>
                  <a:lnTo>
                    <a:pt x="50800" y="630174"/>
                  </a:lnTo>
                  <a:lnTo>
                    <a:pt x="25400" y="630174"/>
                  </a:lnTo>
                  <a:lnTo>
                    <a:pt x="50800" y="630174"/>
                  </a:lnTo>
                  <a:cubicBezTo>
                    <a:pt x="50800" y="804037"/>
                    <a:pt x="191770" y="945007"/>
                    <a:pt x="365633" y="945007"/>
                  </a:cubicBezTo>
                  <a:lnTo>
                    <a:pt x="630174" y="945007"/>
                  </a:lnTo>
                  <a:cubicBezTo>
                    <a:pt x="804037" y="945007"/>
                    <a:pt x="945007" y="804037"/>
                    <a:pt x="945007" y="630174"/>
                  </a:cubicBezTo>
                  <a:lnTo>
                    <a:pt x="945007" y="365633"/>
                  </a:lnTo>
                  <a:lnTo>
                    <a:pt x="970407" y="365633"/>
                  </a:lnTo>
                  <a:lnTo>
                    <a:pt x="945007" y="365633"/>
                  </a:lnTo>
                  <a:cubicBezTo>
                    <a:pt x="945007" y="191770"/>
                    <a:pt x="804037" y="50800"/>
                    <a:pt x="630174" y="50800"/>
                  </a:cubicBezTo>
                  <a:lnTo>
                    <a:pt x="365633" y="50800"/>
                  </a:lnTo>
                  <a:lnTo>
                    <a:pt x="365633" y="25400"/>
                  </a:lnTo>
                  <a:lnTo>
                    <a:pt x="365633" y="50800"/>
                  </a:lnTo>
                  <a:cubicBezTo>
                    <a:pt x="191770" y="50800"/>
                    <a:pt x="50800" y="191770"/>
                    <a:pt x="50800" y="365633"/>
                  </a:cubicBezTo>
                  <a:close/>
                </a:path>
              </a:pathLst>
            </a:custGeom>
            <a:solidFill>
              <a:srgbClr val="B7D5CA"/>
            </a:solidFill>
          </p:spPr>
        </p:sp>
      </p:grpSp>
      <p:grpSp>
        <p:nvGrpSpPr>
          <p:cNvPr id="34" name="Group 34"/>
          <p:cNvGrpSpPr/>
          <p:nvPr/>
        </p:nvGrpSpPr>
        <p:grpSpPr>
          <a:xfrm>
            <a:off x="11680775" y="5426869"/>
            <a:ext cx="354360" cy="442912"/>
            <a:chOff x="0" y="0"/>
            <a:chExt cx="472480" cy="590550"/>
          </a:xfrm>
        </p:grpSpPr>
        <p:sp>
          <p:nvSpPr>
            <p:cNvPr id="35" name="Freeform 35" descr="preencoded.png"/>
            <p:cNvSpPr/>
            <p:nvPr/>
          </p:nvSpPr>
          <p:spPr>
            <a:xfrm>
              <a:off x="0" y="0"/>
              <a:ext cx="472440" cy="590550"/>
            </a:xfrm>
            <a:custGeom>
              <a:avLst/>
              <a:gdLst/>
              <a:ahLst/>
              <a:cxnLst/>
              <a:rect l="l" t="t" r="r" b="b"/>
              <a:pathLst>
                <a:path w="472440" h="590550">
                  <a:moveTo>
                    <a:pt x="0" y="0"/>
                  </a:moveTo>
                  <a:lnTo>
                    <a:pt x="472440" y="0"/>
                  </a:lnTo>
                  <a:lnTo>
                    <a:pt x="472440" y="590550"/>
                  </a:lnTo>
                  <a:lnTo>
                    <a:pt x="0" y="590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815" r="-8" b="-815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1017638" y="1583571"/>
            <a:ext cx="5027562" cy="4594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4000" b="1" dirty="0">
                <a:solidFill>
                  <a:srgbClr val="006747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Expected Benefits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030338" y="3277641"/>
            <a:ext cx="5169247" cy="850552"/>
            <a:chOff x="0" y="0"/>
            <a:chExt cx="6892330" cy="113407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892290" cy="1134110"/>
            </a:xfrm>
            <a:custGeom>
              <a:avLst/>
              <a:gdLst/>
              <a:ahLst/>
              <a:cxnLst/>
              <a:rect l="l" t="t" r="r" b="b"/>
              <a:pathLst>
                <a:path w="6892290" h="1134110">
                  <a:moveTo>
                    <a:pt x="0" y="279273"/>
                  </a:moveTo>
                  <a:cubicBezTo>
                    <a:pt x="0" y="125095"/>
                    <a:pt x="125095" y="0"/>
                    <a:pt x="279273" y="0"/>
                  </a:cubicBezTo>
                  <a:lnTo>
                    <a:pt x="6613017" y="0"/>
                  </a:lnTo>
                  <a:cubicBezTo>
                    <a:pt x="6767323" y="0"/>
                    <a:pt x="6892290" y="125095"/>
                    <a:pt x="6892290" y="279273"/>
                  </a:cubicBezTo>
                  <a:lnTo>
                    <a:pt x="6892290" y="854837"/>
                  </a:lnTo>
                  <a:cubicBezTo>
                    <a:pt x="6892290" y="1009142"/>
                    <a:pt x="6767195" y="1134110"/>
                    <a:pt x="6613017" y="1134110"/>
                  </a:cubicBezTo>
                  <a:lnTo>
                    <a:pt x="279273" y="1134110"/>
                  </a:lnTo>
                  <a:cubicBezTo>
                    <a:pt x="125095" y="1134110"/>
                    <a:pt x="0" y="1009015"/>
                    <a:pt x="0" y="854837"/>
                  </a:cubicBezTo>
                  <a:close/>
                </a:path>
              </a:pathLst>
            </a:custGeom>
            <a:solidFill>
              <a:srgbClr val="D1EFE4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3402360" y="3489424"/>
            <a:ext cx="425203" cy="474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3312" b="1">
                <a:solidFill>
                  <a:srgbClr val="4B4A4A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13855" y="4402187"/>
            <a:ext cx="4602212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4B4A4A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Improved Early Diagnosis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13855" y="5362872"/>
            <a:ext cx="4602212" cy="1919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Potentially lead to earlier identification of lung cancer, enabling timely intervention and better treatment outcomes.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6559302" y="3277641"/>
            <a:ext cx="5169247" cy="850552"/>
            <a:chOff x="0" y="0"/>
            <a:chExt cx="6892330" cy="113407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892290" cy="1134110"/>
            </a:xfrm>
            <a:custGeom>
              <a:avLst/>
              <a:gdLst/>
              <a:ahLst/>
              <a:cxnLst/>
              <a:rect l="l" t="t" r="r" b="b"/>
              <a:pathLst>
                <a:path w="6892290" h="1134110">
                  <a:moveTo>
                    <a:pt x="0" y="279273"/>
                  </a:moveTo>
                  <a:cubicBezTo>
                    <a:pt x="0" y="125095"/>
                    <a:pt x="125095" y="0"/>
                    <a:pt x="279273" y="0"/>
                  </a:cubicBezTo>
                  <a:lnTo>
                    <a:pt x="6613017" y="0"/>
                  </a:lnTo>
                  <a:cubicBezTo>
                    <a:pt x="6767323" y="0"/>
                    <a:pt x="6892290" y="125095"/>
                    <a:pt x="6892290" y="279273"/>
                  </a:cubicBezTo>
                  <a:lnTo>
                    <a:pt x="6892290" y="854837"/>
                  </a:lnTo>
                  <a:cubicBezTo>
                    <a:pt x="6892290" y="1009142"/>
                    <a:pt x="6767195" y="1134110"/>
                    <a:pt x="6613017" y="1134110"/>
                  </a:cubicBezTo>
                  <a:lnTo>
                    <a:pt x="279273" y="1134110"/>
                  </a:lnTo>
                  <a:cubicBezTo>
                    <a:pt x="125095" y="1134110"/>
                    <a:pt x="0" y="1009015"/>
                    <a:pt x="0" y="854837"/>
                  </a:cubicBezTo>
                  <a:close/>
                </a:path>
              </a:pathLst>
            </a:custGeom>
            <a:solidFill>
              <a:srgbClr val="D1EFE4"/>
            </a:solidFill>
          </p:spPr>
        </p:sp>
      </p:grpSp>
      <p:sp>
        <p:nvSpPr>
          <p:cNvPr id="20" name="TextBox 20"/>
          <p:cNvSpPr txBox="1"/>
          <p:nvPr/>
        </p:nvSpPr>
        <p:spPr>
          <a:xfrm>
            <a:off x="8931325" y="3489424"/>
            <a:ext cx="425203" cy="474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3312" b="1">
                <a:solidFill>
                  <a:srgbClr val="4B4A4A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842820" y="4402187"/>
            <a:ext cx="4602212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4B4A4A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Enhanced Predictive Power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842820" y="5362872"/>
            <a:ext cx="4602212" cy="1919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Overcome data limitations by creating a more balanced and representative dataset for training, reducing bias.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2088266" y="3277641"/>
            <a:ext cx="5169247" cy="850552"/>
            <a:chOff x="0" y="0"/>
            <a:chExt cx="6892330" cy="113407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892290" cy="1134110"/>
            </a:xfrm>
            <a:custGeom>
              <a:avLst/>
              <a:gdLst/>
              <a:ahLst/>
              <a:cxnLst/>
              <a:rect l="l" t="t" r="r" b="b"/>
              <a:pathLst>
                <a:path w="6892290" h="1134110">
                  <a:moveTo>
                    <a:pt x="0" y="279273"/>
                  </a:moveTo>
                  <a:cubicBezTo>
                    <a:pt x="0" y="125095"/>
                    <a:pt x="125095" y="0"/>
                    <a:pt x="279273" y="0"/>
                  </a:cubicBezTo>
                  <a:lnTo>
                    <a:pt x="6613017" y="0"/>
                  </a:lnTo>
                  <a:cubicBezTo>
                    <a:pt x="6767323" y="0"/>
                    <a:pt x="6892290" y="125095"/>
                    <a:pt x="6892290" y="279273"/>
                  </a:cubicBezTo>
                  <a:lnTo>
                    <a:pt x="6892290" y="854837"/>
                  </a:lnTo>
                  <a:cubicBezTo>
                    <a:pt x="6892290" y="1009142"/>
                    <a:pt x="6767195" y="1134110"/>
                    <a:pt x="6613017" y="1134110"/>
                  </a:cubicBezTo>
                  <a:lnTo>
                    <a:pt x="279273" y="1134110"/>
                  </a:lnTo>
                  <a:cubicBezTo>
                    <a:pt x="125095" y="1134110"/>
                    <a:pt x="0" y="1009015"/>
                    <a:pt x="0" y="854837"/>
                  </a:cubicBezTo>
                  <a:close/>
                </a:path>
              </a:pathLst>
            </a:custGeom>
            <a:solidFill>
              <a:srgbClr val="D1EFE4"/>
            </a:solidFill>
          </p:spPr>
        </p:sp>
      </p:grpSp>
      <p:sp>
        <p:nvSpPr>
          <p:cNvPr id="28" name="TextBox 28"/>
          <p:cNvSpPr txBox="1"/>
          <p:nvPr/>
        </p:nvSpPr>
        <p:spPr>
          <a:xfrm>
            <a:off x="14460290" y="3489424"/>
            <a:ext cx="425203" cy="474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3312" b="1">
                <a:solidFill>
                  <a:srgbClr val="4B4A4A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3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371784" y="4402187"/>
            <a:ext cx="4602213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4B4A4A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Reduced Healthcare Burden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371784" y="5362872"/>
            <a:ext cx="4602213" cy="2372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Earlier detection can decrease the need for advanced, costly treatments, contributing to more efficient healthcare resource allocation.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992238" y="2013953"/>
            <a:ext cx="7542162" cy="4594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4000" b="1" dirty="0">
                <a:solidFill>
                  <a:srgbClr val="006747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Conclusion &amp; Future Work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17439" y="3697337"/>
            <a:ext cx="15878324" cy="1012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This project is currently in the development phase, focusing on the integration and optimization of CTGAN and Random Forest for lung cancer early detection.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92238" y="3483174"/>
            <a:ext cx="38100" cy="1545134"/>
            <a:chOff x="0" y="0"/>
            <a:chExt cx="50800" cy="206017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0800" cy="2060194"/>
            </a:xfrm>
            <a:custGeom>
              <a:avLst/>
              <a:gdLst/>
              <a:ahLst/>
              <a:cxnLst/>
              <a:rect l="l" t="t" r="r" b="b"/>
              <a:pathLst>
                <a:path w="50800" h="2060194">
                  <a:moveTo>
                    <a:pt x="0" y="0"/>
                  </a:moveTo>
                  <a:lnTo>
                    <a:pt x="50800" y="0"/>
                  </a:lnTo>
                  <a:lnTo>
                    <a:pt x="50800" y="2060194"/>
                  </a:lnTo>
                  <a:lnTo>
                    <a:pt x="0" y="2060194"/>
                  </a:lnTo>
                  <a:close/>
                </a:path>
              </a:pathLst>
            </a:custGeom>
            <a:solidFill>
              <a:srgbClr val="006747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992238" y="5242471"/>
            <a:ext cx="16303526" cy="1012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 b="1">
                <a:solidFill>
                  <a:srgbClr val="4B4A4A"/>
                </a:solidFill>
                <a:latin typeface="Arimo Bold"/>
                <a:ea typeface="Arimo Bold"/>
                <a:cs typeface="Arimo Bold"/>
                <a:sym typeface="Arimo Bold"/>
              </a:rPr>
              <a:t>Ongoing work:</a:t>
            </a:r>
            <a:r>
              <a:rPr lang="en-US" sz="2187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 Refinement of CTGAN architecture, hyperparameter tuning for both models, and feature engineering from CT images.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2238" y="6248846"/>
            <a:ext cx="16303526" cy="1012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 b="1">
                <a:solidFill>
                  <a:srgbClr val="4B4A4A"/>
                </a:solidFill>
                <a:latin typeface="Arimo Bold"/>
                <a:ea typeface="Arimo Bold"/>
                <a:cs typeface="Arimo Bold"/>
                <a:sym typeface="Arimo Bold"/>
              </a:rPr>
              <a:t>Planned Validation:</a:t>
            </a:r>
            <a:r>
              <a:rPr lang="en-US" sz="2187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 Future steps include rigorous validation on diverse external datasets and collaboration with medical professionals for clinical relevance assessment.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92238" y="7255222"/>
            <a:ext cx="16303526" cy="558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 b="1">
                <a:solidFill>
                  <a:srgbClr val="4B4A4A"/>
                </a:solidFill>
                <a:latin typeface="Arimo Bold"/>
                <a:ea typeface="Arimo Bold"/>
                <a:cs typeface="Arimo Bold"/>
                <a:sym typeface="Arimo Bold"/>
              </a:rPr>
              <a:t>Long-term Vision:</a:t>
            </a:r>
            <a:r>
              <a:rPr lang="en-US" sz="2187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 Contribute to a more accurate and accessible screening tool for lung cancer, ultimately saving lives.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/>
          <p:cNvSpPr txBox="1"/>
          <p:nvPr/>
        </p:nvSpPr>
        <p:spPr>
          <a:xfrm>
            <a:off x="4914900" y="4224114"/>
            <a:ext cx="8458200" cy="18387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3937"/>
              </a:lnSpc>
            </a:pPr>
            <a:r>
              <a:rPr lang="en-US" sz="12000" b="1" dirty="0">
                <a:solidFill>
                  <a:srgbClr val="006747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Thank You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B7E55D-6106-2226-29E6-209C77AB8C4A}"/>
              </a:ext>
            </a:extLst>
          </p:cNvPr>
          <p:cNvSpPr txBox="1"/>
          <p:nvPr/>
        </p:nvSpPr>
        <p:spPr>
          <a:xfrm>
            <a:off x="13411200" y="9029700"/>
            <a:ext cx="40382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Presented By :- B8 - 04</a:t>
            </a:r>
            <a:endParaRPr lang="en-IN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720</Words>
  <Application>Microsoft Office PowerPoint</Application>
  <PresentationFormat>Custom</PresentationFormat>
  <Paragraphs>80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Arimo</vt:lpstr>
      <vt:lpstr>Calibri</vt:lpstr>
      <vt:lpstr>Arial</vt:lpstr>
      <vt:lpstr>Aptos</vt:lpstr>
      <vt:lpstr>Noto Serif Bold</vt:lpstr>
      <vt:lpstr>Montserrat</vt:lpstr>
      <vt:lpstr>Arimo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Our proposed framework leverages a Conditional Tabular Generative Adversarial Network (CTGAN) for synthetic data generation and a Random Forest classifier for robust prediction.</dc:title>
  <cp:lastModifiedBy>Nagalapuram Muni Bhargav</cp:lastModifiedBy>
  <cp:revision>8</cp:revision>
  <dcterms:created xsi:type="dcterms:W3CDTF">2006-08-16T00:00:00Z</dcterms:created>
  <dcterms:modified xsi:type="dcterms:W3CDTF">2025-08-23T05:58:11Z</dcterms:modified>
  <dc:identifier>DAGw0o4wDiA</dc:identifier>
</cp:coreProperties>
</file>